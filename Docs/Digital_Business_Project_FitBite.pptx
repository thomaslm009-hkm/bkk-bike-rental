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1" d="100"/>
          <a:sy n="51" d="100"/>
        </p:scale>
        <p:origin x="119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ood_orderin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0"/>
            <a:ext cx="560527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7406640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40080" y="685800"/>
            <a:ext cx="822960" cy="822960"/>
          </a:xfrm>
          <a:prstGeom prst="ellipse">
            <a:avLst/>
          </a:prstGeom>
          <a:solidFill>
            <a:srgbClr val="2D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FB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658368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92A34"/>
                </a:solidFill>
                <a:latin typeface="Aptos"/>
              </a:rPr>
              <a:t>FITBITE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060704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D9169"/>
                </a:solidFill>
                <a:latin typeface="Aptos"/>
              </a:rPr>
              <a:t>Healthy meals. Smarter days.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74519"/>
            <a:ext cx="5760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2923E"/>
                </a:solidFill>
                <a:latin typeface="Aptos"/>
              </a:rPr>
              <a:t>Digital Business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450592"/>
            <a:ext cx="59893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92A34"/>
                </a:solidFill>
                <a:latin typeface="Aptos"/>
              </a:rPr>
              <a:t>Designing a Profitable and Feasible E-Business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3977639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62D30"/>
                </a:solidFill>
                <a:latin typeface="Aptos"/>
              </a:rPr>
              <a:t>Example concept: a digitally operated healthy-meal delivery business in Bangkok.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608076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76"/>
                </a:solidFill>
                <a:latin typeface="Aptos"/>
              </a:rPr>
              <a:t>Prepared as a classroom business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A34"/>
                </a:solidFill>
                <a:latin typeface="Aptos"/>
              </a:rPr>
              <a:t>1. 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67076"/>
                </a:solidFill>
                <a:latin typeface="Aptos"/>
              </a:rPr>
              <a:t>The project evaluates an e-business as a real business, not only as a creative idea.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474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73152" cy="1874519"/>
          </a:xfrm>
          <a:prstGeom prst="rect">
            <a:avLst/>
          </a:prstGeom>
          <a:solidFill>
            <a:srgbClr val="2D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673351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2A34"/>
                </a:solidFill>
                <a:latin typeface="Aptos"/>
              </a:rPr>
              <a:t>Create customer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75688"/>
            <a:ext cx="3090672" cy="1161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2D30"/>
                </a:solidFill>
                <a:latin typeface="Aptos"/>
              </a:rPr>
              <a:t>Use digital technologies to solve a clear customer problem and make the buying experience convenient.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508760"/>
            <a:ext cx="3474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508760"/>
            <a:ext cx="73152" cy="1874519"/>
          </a:xfrm>
          <a:prstGeom prst="rect">
            <a:avLst/>
          </a:prstGeom>
          <a:solidFill>
            <a:srgbClr val="F29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673351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2A34"/>
                </a:solidFill>
                <a:latin typeface="Aptos"/>
              </a:rPr>
              <a:t>Generate sustainable profit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75688"/>
            <a:ext cx="3090672" cy="1161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2D30"/>
                </a:solidFill>
                <a:latin typeface="Aptos"/>
              </a:rPr>
              <a:t>Show how the business attracts customers, generates revenue, controls costs, and remains financially viable.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508760"/>
            <a:ext cx="3474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01583" y="1508760"/>
            <a:ext cx="73152" cy="1874519"/>
          </a:xfrm>
          <a:prstGeom prst="rect">
            <a:avLst/>
          </a:prstGeom>
          <a:solidFill>
            <a:srgbClr val="19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1673351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2A34"/>
                </a:solidFill>
                <a:latin typeface="Aptos"/>
              </a:rPr>
              <a:t>Remain feasible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075688"/>
            <a:ext cx="3090672" cy="1161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2D30"/>
                </a:solidFill>
                <a:latin typeface="Aptos"/>
              </a:rPr>
              <a:t>Demonstrate that the market, technology, operations, finances, and legal/ethical requirements are achievable.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77639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D9169"/>
                </a:solidFill>
                <a:latin typeface="Aptos"/>
              </a:rPr>
              <a:t>Key principle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407408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92A34"/>
                </a:solidFill>
                <a:latin typeface="Aptos"/>
              </a:rPr>
              <a:t>A good e-business is an idea that customers want, can be implemented realistically, and can generate sustainable profit.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076"/>
                </a:solidFill>
                <a:latin typeface="Aptos"/>
              </a:rPr>
              <a:t>Illustrative business proposal — assumptions are for classroom/project purposes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A34"/>
                </a:solidFill>
                <a:latin typeface="Aptos"/>
              </a:rPr>
              <a:t>2. Business Concept: FitBite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67076"/>
                </a:solidFill>
                <a:latin typeface="Aptos"/>
              </a:rPr>
              <a:t>A mobile-first healthy meal delivery service designed for busy urban customers.</a:t>
            </a:r>
          </a:p>
        </p:txBody>
      </p:sp>
      <p:pic>
        <p:nvPicPr>
          <p:cNvPr id="5" name="Picture 4" descr="salad_or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325880"/>
            <a:ext cx="448056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141732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2923E"/>
                </a:solidFill>
                <a:latin typeface="Aptos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28800"/>
            <a:ext cx="5897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62D30"/>
                </a:solidFill>
                <a:latin typeface="Aptos"/>
              </a:defRPr>
            </a:pPr>
            <a:r>
              <a:t>Busy students and young professionals often want healthier meals but have limited time to plan, cook, or compare options.</a:t>
            </a:r>
          </a:p>
          <a:p>
            <a:pPr>
              <a:spcAft>
                <a:spcPts val="600"/>
              </a:spcAft>
              <a:defRPr sz="1500">
                <a:solidFill>
                  <a:srgbClr val="262D30"/>
                </a:solidFill>
                <a:latin typeface="Aptos"/>
              </a:defRPr>
            </a:pPr>
            <a:r>
              <a:t>Existing delivery choices can be convenient, but healthy choices may be expensive, difficult to track, or inconsistent.</a:t>
            </a:r>
          </a:p>
          <a:p>
            <a:pPr>
              <a:spcAft>
                <a:spcPts val="600"/>
              </a:spcAft>
              <a:defRPr sz="1500">
                <a:solidFill>
                  <a:srgbClr val="262D30"/>
                </a:solidFill>
                <a:latin typeface="Aptos"/>
              </a:defRPr>
            </a:pPr>
            <a:r>
              <a:t>FitBite simplifies the decision: choose a goal, select a meal, pay digitally, and receive a portion-controlled meal.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06908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D9169"/>
                </a:solidFill>
                <a:latin typeface="Aptos"/>
              </a:rPr>
              <a:t>The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480560"/>
            <a:ext cx="5897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62D30"/>
                </a:solidFill>
                <a:latin typeface="Aptos"/>
              </a:defRPr>
            </a:pPr>
            <a:r>
              <a:t>Fresh, affordable meal bowls with clear calorie/protein information.</a:t>
            </a:r>
          </a:p>
          <a:p>
            <a:pPr>
              <a:spcAft>
                <a:spcPts val="600"/>
              </a:spcAft>
              <a:defRPr sz="1500">
                <a:solidFill>
                  <a:srgbClr val="262D30"/>
                </a:solidFill>
                <a:latin typeface="Aptos"/>
              </a:defRPr>
            </a:pPr>
            <a:r>
              <a:t>One-time orders and flexible weekly packs.</a:t>
            </a:r>
          </a:p>
          <a:p>
            <a:pPr>
              <a:spcAft>
                <a:spcPts val="600"/>
              </a:spcAft>
              <a:defRPr sz="1500">
                <a:solidFill>
                  <a:srgbClr val="262D30"/>
                </a:solidFill>
                <a:latin typeface="Aptos"/>
              </a:defRPr>
            </a:pPr>
            <a:r>
              <a:t>Digital ordering through a mobile-friendly website and LINE.</a:t>
            </a:r>
          </a:p>
          <a:p>
            <a:pPr>
              <a:spcAft>
                <a:spcPts val="600"/>
              </a:spcAft>
              <a:defRPr sz="1500">
                <a:solidFill>
                  <a:srgbClr val="262D30"/>
                </a:solidFill>
                <a:latin typeface="Aptos"/>
              </a:defRPr>
            </a:pPr>
            <a:r>
              <a:t>Personalized recommendations based on lifestyle goals.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076"/>
                </a:solidFill>
                <a:latin typeface="Aptos"/>
              </a:rPr>
              <a:t>Illustrative business proposal — assumptions are for classroom/project purposes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A34"/>
                </a:solidFill>
                <a:latin typeface="Aptos"/>
              </a:rPr>
              <a:t>3. Value Proposition &amp; 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67076"/>
                </a:solidFill>
                <a:latin typeface="Aptos"/>
              </a:rPr>
              <a:t>Why should customers choose FitBite instead of existing alternatives?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6060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1965960"/>
          </a:xfrm>
          <a:prstGeom prst="rect">
            <a:avLst/>
          </a:prstGeom>
          <a:solidFill>
            <a:srgbClr val="2D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490472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2A34"/>
                </a:solidFill>
                <a:latin typeface="Aptos"/>
              </a:rPr>
              <a:t>Affordable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92807"/>
            <a:ext cx="2221992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2D30"/>
                </a:solidFill>
                <a:latin typeface="Aptos"/>
              </a:rPr>
              <a:t>Target average price of about ฿199 per meal—below many premium macro-tracked options.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1325880"/>
            <a:ext cx="26060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01568" y="1325880"/>
            <a:ext cx="73152" cy="1965960"/>
          </a:xfrm>
          <a:prstGeom prst="rect">
            <a:avLst/>
          </a:prstGeom>
          <a:solidFill>
            <a:srgbClr val="F29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02736" y="1490472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2A34"/>
                </a:solidFill>
                <a:latin typeface="Aptos"/>
              </a:rPr>
              <a:t>Personalized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2736" y="1892807"/>
            <a:ext cx="2221992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2D30"/>
                </a:solidFill>
                <a:latin typeface="Aptos"/>
              </a:rPr>
              <a:t>Customers choose goals such as balanced, high-protein, or lighter meals.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325880"/>
            <a:ext cx="26060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63056" y="1325880"/>
            <a:ext cx="73152" cy="1965960"/>
          </a:xfrm>
          <a:prstGeom prst="rect">
            <a:avLst/>
          </a:prstGeom>
          <a:solidFill>
            <a:srgbClr val="19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1490472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2A34"/>
                </a:solidFill>
                <a:latin typeface="Aptos"/>
              </a:rPr>
              <a:t>Convenient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1892807"/>
            <a:ext cx="2221992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2D30"/>
                </a:solidFill>
                <a:latin typeface="Aptos"/>
              </a:rPr>
              <a:t>Mobile ordering, digital payment, scheduled delivery, and LINE customer support.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24544" y="1325880"/>
            <a:ext cx="26060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24544" y="1325880"/>
            <a:ext cx="73152" cy="1965960"/>
          </a:xfrm>
          <a:prstGeom prst="rect">
            <a:avLst/>
          </a:prstGeom>
          <a:solidFill>
            <a:srgbClr val="2D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25712" y="1490472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2A34"/>
                </a:solidFill>
                <a:latin typeface="Aptos"/>
              </a:rPr>
              <a:t>Transparent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1892807"/>
            <a:ext cx="2221992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2D30"/>
                </a:solidFill>
                <a:latin typeface="Aptos"/>
              </a:rPr>
              <a:t>Every menu item displays calories, protein, ingredients, and allergens.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7947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2A34"/>
                </a:solidFill>
                <a:latin typeface="Aptos"/>
              </a:rPr>
              <a:t>Competitive advantage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279392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62D30"/>
                </a:solidFill>
                <a:latin typeface="Aptos"/>
              </a:rPr>
              <a:t>FitBite positions itself between ordinary food delivery and premium meal-prep subscriptions: healthier than convenience food, but more accessible and flexible than high-end plans.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076"/>
                </a:solidFill>
                <a:latin typeface="Aptos"/>
              </a:rPr>
              <a:t>Illustrative business proposal — assumptions are for classroom/project purposes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A34"/>
                </a:solidFill>
                <a:latin typeface="Aptos"/>
              </a:rPr>
              <a:t>4. Target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67076"/>
                </a:solidFill>
                <a:latin typeface="Aptos"/>
              </a:rPr>
              <a:t>Primary market: digitally active urban consumers in Bangkok.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2057400" cy="1325880"/>
          </a:xfrm>
          <a:prstGeom prst="roundRect">
            <a:avLst/>
          </a:prstGeom>
          <a:solidFill>
            <a:srgbClr val="E2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35607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2D9169"/>
                </a:solidFill>
                <a:latin typeface="Aptos"/>
              </a:rPr>
              <a:t>18–35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011680"/>
            <a:ext cx="19110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62D30"/>
                </a:solidFill>
                <a:latin typeface="Aptos"/>
              </a:rPr>
              <a:t>Primary age range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325880"/>
            <a:ext cx="2057400" cy="1325880"/>
          </a:xfrm>
          <a:prstGeom prst="roundRect">
            <a:avLst/>
          </a:prstGeom>
          <a:solidFill>
            <a:srgbClr val="E2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360" y="1435607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2D9169"/>
                </a:solidFill>
                <a:latin typeface="Aptos"/>
              </a:rPr>
              <a:t>Bangkok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53512" y="2011680"/>
            <a:ext cx="19110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62D30"/>
                </a:solidFill>
                <a:latin typeface="Aptos"/>
              </a:rPr>
              <a:t>Initial service area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325880"/>
            <a:ext cx="2057400" cy="1325880"/>
          </a:xfrm>
          <a:prstGeom prst="roundRect">
            <a:avLst/>
          </a:prstGeom>
          <a:solidFill>
            <a:srgbClr val="E2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74920" y="1435607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2D9169"/>
                </a:solidFill>
                <a:latin typeface="Aptos"/>
              </a:rPr>
              <a:t>฿199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8072" y="2011680"/>
            <a:ext cx="19110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62D30"/>
                </a:solidFill>
                <a:latin typeface="Aptos"/>
              </a:rPr>
              <a:t>Target average meal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325880"/>
            <a:ext cx="2057400" cy="1325880"/>
          </a:xfrm>
          <a:prstGeom prst="roundRect">
            <a:avLst/>
          </a:prstGeom>
          <a:solidFill>
            <a:srgbClr val="E2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69480" y="1435607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2D9169"/>
                </a:solidFill>
                <a:latin typeface="Aptos"/>
              </a:rPr>
              <a:t>Mobile-first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2631" y="2011680"/>
            <a:ext cx="19110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62D30"/>
                </a:solidFill>
                <a:latin typeface="Aptos"/>
              </a:rPr>
              <a:t>Buying behavior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40" y="1325880"/>
            <a:ext cx="2057400" cy="1325880"/>
          </a:xfrm>
          <a:prstGeom prst="roundRect">
            <a:avLst/>
          </a:prstGeom>
          <a:solidFill>
            <a:srgbClr val="E2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64040" y="1435607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2D9169"/>
                </a:solidFill>
                <a:latin typeface="Aptos"/>
              </a:rPr>
              <a:t>Daily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37192" y="2011680"/>
            <a:ext cx="19110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62D30"/>
                </a:solidFill>
                <a:latin typeface="Aptos"/>
              </a:rPr>
              <a:t>Digital engagement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063240"/>
            <a:ext cx="106984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62D30"/>
                </a:solidFill>
                <a:latin typeface="Aptos"/>
              </a:defRPr>
            </a:pPr>
            <a:r>
              <a:t>Demographics: university students, early-career professionals, office workers, and fitness-oriented consumers.</a:t>
            </a:r>
          </a:p>
          <a:p>
            <a:pPr>
              <a:spcAft>
                <a:spcPts val="600"/>
              </a:spcAft>
              <a:defRPr sz="1500">
                <a:solidFill>
                  <a:srgbClr val="262D30"/>
                </a:solidFill>
                <a:latin typeface="Aptos"/>
              </a:defRPr>
            </a:pPr>
            <a:r>
              <a:t>Lifestyle: busy schedules, health/fitness interests, convenience seeking, frequent food delivery.</a:t>
            </a:r>
          </a:p>
          <a:p>
            <a:pPr>
              <a:spcAft>
                <a:spcPts val="600"/>
              </a:spcAft>
              <a:defRPr sz="1500">
                <a:solidFill>
                  <a:srgbClr val="262D30"/>
                </a:solidFill>
                <a:latin typeface="Aptos"/>
              </a:defRPr>
            </a:pPr>
            <a:r>
              <a:t>Purchasing behavior: comfortable with mobile ordering, QR/PromptPay/card payments, promotions, and reviews.</a:t>
            </a:r>
          </a:p>
          <a:p>
            <a:pPr>
              <a:spcAft>
                <a:spcPts val="600"/>
              </a:spcAft>
              <a:defRPr sz="1500">
                <a:solidFill>
                  <a:srgbClr val="262D30"/>
                </a:solidFill>
                <a:latin typeface="Aptos"/>
              </a:defRPr>
            </a:pPr>
            <a:r>
              <a:t>Digital habits: Instagram, TikTok, Facebook, LINE, Google search, and food-delivery platforms.</a:t>
            </a:r>
          </a:p>
          <a:p>
            <a:pPr>
              <a:spcAft>
                <a:spcPts val="600"/>
              </a:spcAft>
              <a:defRPr sz="1500">
                <a:solidFill>
                  <a:srgbClr val="262D30"/>
                </a:solidFill>
                <a:latin typeface="Aptos"/>
              </a:defRPr>
            </a:pPr>
            <a:r>
              <a:t>Needs: affordable healthy food, predictable portions, convenience, variety, nutrition transparency, and reliable delivery.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076"/>
                </a:solidFill>
                <a:latin typeface="Aptos"/>
              </a:rPr>
              <a:t>Illustrative business proposal — assumptions are for classroom/project purposes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A34"/>
                </a:solidFill>
                <a:latin typeface="Aptos"/>
              </a:rPr>
              <a:t>5. E-Business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67076"/>
                </a:solidFill>
                <a:latin typeface="Aptos"/>
              </a:rPr>
              <a:t>FitBite uses a B2C direct-to-consumer model with optional subscription packs.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1600200" cy="1920240"/>
          </a:xfrm>
          <a:prstGeom prst="roundRect">
            <a:avLst/>
          </a:prstGeom>
          <a:solidFill>
            <a:srgbClr val="E2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755648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D9169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2148840"/>
            <a:ext cx="1453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92A34"/>
                </a:solidFill>
                <a:latin typeface="Aptos"/>
              </a:rPr>
              <a:t>Discover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14173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62D30"/>
                </a:solidFill>
                <a:latin typeface="Aptos"/>
              </a:rPr>
              <a:t>TikTok / Instagram / Google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04872" y="1600200"/>
            <a:ext cx="1600200" cy="1920240"/>
          </a:xfrm>
          <a:prstGeom prst="roundRect">
            <a:avLst/>
          </a:prstGeom>
          <a:solidFill>
            <a:srgbClr val="F9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04872" y="1755648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2923E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78024" y="2148840"/>
            <a:ext cx="1453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92A34"/>
                </a:solidFill>
                <a:latin typeface="Aptos"/>
              </a:rPr>
              <a:t>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6312" y="2606040"/>
            <a:ext cx="14173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62D30"/>
                </a:solidFill>
                <a:latin typeface="Aptos"/>
              </a:rPr>
              <a:t>Website / 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6824" y="1600200"/>
            <a:ext cx="1600200" cy="1920240"/>
          </a:xfrm>
          <a:prstGeom prst="roundRect">
            <a:avLst/>
          </a:prstGeom>
          <a:solidFill>
            <a:srgbClr val="E2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06824" y="1755648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D9169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148840"/>
            <a:ext cx="1453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92A34"/>
                </a:solidFill>
                <a:latin typeface="Aptos"/>
              </a:rPr>
              <a:t>Pay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8264" y="2606040"/>
            <a:ext cx="14173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62D30"/>
                </a:solidFill>
                <a:latin typeface="Aptos"/>
              </a:rPr>
              <a:t>PromptPay / card / e-wallet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1600200"/>
            <a:ext cx="1600200" cy="1920240"/>
          </a:xfrm>
          <a:prstGeom prst="roundRect">
            <a:avLst/>
          </a:prstGeom>
          <a:solidFill>
            <a:srgbClr val="F9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08776" y="1755648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2923E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2148840"/>
            <a:ext cx="1453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92A34"/>
                </a:solidFill>
                <a:latin typeface="Aptos"/>
              </a:rPr>
              <a:t>Prepare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606040"/>
            <a:ext cx="14173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62D30"/>
                </a:solidFill>
                <a:latin typeface="Aptos"/>
              </a:rPr>
              <a:t>Central kitchen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0728" y="1600200"/>
            <a:ext cx="1600200" cy="1920240"/>
          </a:xfrm>
          <a:prstGeom prst="roundRect">
            <a:avLst/>
          </a:prstGeom>
          <a:solidFill>
            <a:srgbClr val="E2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10728" y="1755648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D9169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2148840"/>
            <a:ext cx="1453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92A34"/>
                </a:solidFill>
                <a:latin typeface="Aptos"/>
              </a:rPr>
              <a:t>Deliver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2168" y="2606040"/>
            <a:ext cx="14173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62D30"/>
                </a:solidFill>
                <a:latin typeface="Aptos"/>
              </a:rPr>
              <a:t>Scheduled rider delivery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12680" y="1600200"/>
            <a:ext cx="1600200" cy="1920240"/>
          </a:xfrm>
          <a:prstGeom prst="roundRect">
            <a:avLst/>
          </a:prstGeom>
          <a:solidFill>
            <a:srgbClr val="F9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12680" y="1755648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2923E"/>
                </a:solidFill>
                <a:latin typeface="Apto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85832" y="2148840"/>
            <a:ext cx="1453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92A34"/>
                </a:solidFill>
                <a:latin typeface="Aptos"/>
              </a:rPr>
              <a:t>Retain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20" y="2606040"/>
            <a:ext cx="14173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62D30"/>
                </a:solidFill>
                <a:latin typeface="Aptos"/>
              </a:rPr>
              <a:t>Reviews / loyalty / packs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06908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34"/>
                </a:solidFill>
                <a:latin typeface="Aptos"/>
              </a:rPr>
              <a:t>Digital infrastructure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462272"/>
            <a:ext cx="107899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62D30"/>
                </a:solidFill>
                <a:latin typeface="Aptos"/>
              </a:defRPr>
            </a:pPr>
            <a:r>
              <a:rPr dirty="0"/>
              <a:t>E-commerce website: product catalogue, nutrition information, cart, checkout, delivery scheduling.</a:t>
            </a:r>
          </a:p>
          <a:p>
            <a:pPr>
              <a:spcAft>
                <a:spcPts val="600"/>
              </a:spcAft>
              <a:defRPr sz="1400">
                <a:solidFill>
                  <a:srgbClr val="262D30"/>
                </a:solidFill>
                <a:latin typeface="Aptos"/>
              </a:defRPr>
            </a:pPr>
            <a:r>
              <a:rPr dirty="0"/>
              <a:t>Social media: Instagram + TikTok for discovery; Facebook for broader reach; LINE for retention and customer service.</a:t>
            </a:r>
          </a:p>
          <a:p>
            <a:pPr>
              <a:spcAft>
                <a:spcPts val="600"/>
              </a:spcAft>
              <a:defRPr sz="1400">
                <a:solidFill>
                  <a:srgbClr val="262D30"/>
                </a:solidFill>
                <a:latin typeface="Aptos"/>
              </a:defRPr>
            </a:pPr>
            <a:r>
              <a:rPr dirty="0"/>
              <a:t>Payment: </a:t>
            </a:r>
            <a:r>
              <a:rPr dirty="0" err="1"/>
              <a:t>PromptPay</a:t>
            </a:r>
            <a:r>
              <a:rPr dirty="0"/>
              <a:t>/QR, credit/debit cards, and selected e-wallets.</a:t>
            </a:r>
          </a:p>
          <a:p>
            <a:pPr>
              <a:spcAft>
                <a:spcPts val="600"/>
              </a:spcAft>
              <a:defRPr sz="1400">
                <a:solidFill>
                  <a:srgbClr val="262D30"/>
                </a:solidFill>
                <a:latin typeface="Aptos"/>
              </a:defRPr>
            </a:pPr>
            <a:r>
              <a:rPr dirty="0"/>
              <a:t>Fulfillment: central kitchen → quality check → sealed packaging → scheduled delivery.</a:t>
            </a:r>
          </a:p>
          <a:p>
            <a:pPr>
              <a:spcAft>
                <a:spcPts val="600"/>
              </a:spcAft>
              <a:defRPr sz="1400">
                <a:solidFill>
                  <a:srgbClr val="262D30"/>
                </a:solidFill>
                <a:latin typeface="Aptos"/>
              </a:defRPr>
            </a:pPr>
            <a:r>
              <a:rPr dirty="0"/>
              <a:t>Customer service: LINE chat, social DMs, FAQ, and post-purchase support.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076"/>
                </a:solidFill>
                <a:latin typeface="Aptos"/>
              </a:rPr>
              <a:t>Illustrative business proposal — assumptions are for classroom/project purposes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A34"/>
                </a:solidFill>
                <a:latin typeface="Aptos"/>
              </a:rPr>
              <a:t>6. Products &amp;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67076"/>
                </a:solidFill>
                <a:latin typeface="Aptos"/>
              </a:rPr>
              <a:t>Pricing is designed to balance affordability, perceived value, and contribution margin.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417320"/>
          <a:ext cx="630936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7784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Product / plan</a:t>
                      </a:r>
                    </a:p>
                  </a:txBody>
                  <a:tcPr marL="73152" marR="73152">
                    <a:solidFill>
                      <a:srgbClr val="192A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Customer price</a:t>
                      </a:r>
                    </a:p>
                  </a:txBody>
                  <a:tcPr marL="73152" marR="73152">
                    <a:solidFill>
                      <a:srgbClr val="192A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Estimated variable cost</a:t>
                      </a:r>
                    </a:p>
                  </a:txBody>
                  <a:tcPr marL="73152" marR="73152">
                    <a:solidFill>
                      <a:srgbClr val="192A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Contribution</a:t>
                      </a:r>
                    </a:p>
                  </a:txBody>
                  <a:tcPr marL="73152" marR="73152">
                    <a:solidFill>
                      <a:srgbClr val="192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Single Balanced Bowl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฿199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฿110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฿89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High-Protein Bowl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฿229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฿125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฿104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5-Meal Pack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฿950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฿550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฿400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20-Meal Monthly Pack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฿3,600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฿2,200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฿1,400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26679" y="1417320"/>
            <a:ext cx="3611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26679" y="1417320"/>
            <a:ext cx="73152" cy="1280160"/>
          </a:xfrm>
          <a:prstGeom prst="rect">
            <a:avLst/>
          </a:prstGeom>
          <a:solidFill>
            <a:srgbClr val="2D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27848" y="1581912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A34"/>
                </a:solidFill>
                <a:latin typeface="Aptos"/>
              </a:rPr>
              <a:t>Pricing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7848" y="1984248"/>
            <a:ext cx="3227832" cy="566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2D30"/>
                </a:solidFill>
                <a:latin typeface="Aptos"/>
              </a:rPr>
              <a:t>Penetration-oriented introductory pricing, then protect margin through meal packs and repeat purchases.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2880360"/>
            <a:ext cx="3611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26679" y="2880360"/>
            <a:ext cx="73152" cy="1280160"/>
          </a:xfrm>
          <a:prstGeom prst="rect">
            <a:avLst/>
          </a:prstGeom>
          <a:solidFill>
            <a:srgbClr val="F29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27848" y="3044952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A34"/>
                </a:solidFill>
                <a:latin typeface="Aptos"/>
              </a:rPr>
              <a:t>Promotions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7848" y="3447288"/>
            <a:ext cx="3227832" cy="566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2D30"/>
                </a:solidFill>
                <a:latin typeface="Aptos"/>
              </a:rPr>
              <a:t>First-order voucher, referral credit, student bundle, and limited-time social media codes.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4343400"/>
            <a:ext cx="3611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26679" y="4343400"/>
            <a:ext cx="73152" cy="1280160"/>
          </a:xfrm>
          <a:prstGeom prst="rect">
            <a:avLst/>
          </a:prstGeom>
          <a:solidFill>
            <a:srgbClr val="19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27848" y="4507992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A34"/>
                </a:solidFill>
                <a:latin typeface="Aptos"/>
              </a:rPr>
              <a:t>Expected profit per sale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848" y="4910328"/>
            <a:ext cx="3227832" cy="566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2D30"/>
                </a:solidFill>
                <a:latin typeface="Aptos"/>
              </a:rPr>
              <a:t>At ฿199 average price and ฿110 variable cost, contribution is approximately ฿89 before fixed costs.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076"/>
                </a:solidFill>
                <a:latin typeface="Aptos"/>
              </a:rPr>
              <a:t>Illustrative business proposal — assumptions are for classroom/project purposes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A34"/>
                </a:solidFill>
                <a:latin typeface="Aptos"/>
              </a:rPr>
              <a:t>7. Revenue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67076"/>
                </a:solidFill>
                <a:latin typeface="Aptos"/>
              </a:rPr>
              <a:t>The business earns primarily from meal sales and repeat/pack purchases.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246120" cy="1417320"/>
          </a:xfrm>
          <a:prstGeom prst="roundRect">
            <a:avLst/>
          </a:prstGeom>
          <a:solidFill>
            <a:srgbClr val="E2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35607"/>
            <a:ext cx="3246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2D9169"/>
                </a:solidFill>
                <a:latin typeface="Aptos"/>
              </a:rPr>
              <a:t>70%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011680"/>
            <a:ext cx="309981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62D30"/>
                </a:solidFill>
                <a:latin typeface="Aptos"/>
              </a:rPr>
              <a:t>Direct meal sales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246120" cy="1417320"/>
          </a:xfrm>
          <a:prstGeom prst="roundRect">
            <a:avLst/>
          </a:prstGeom>
          <a:solidFill>
            <a:srgbClr val="E2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34840" y="1435607"/>
            <a:ext cx="3246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2923E"/>
                </a:solidFill>
                <a:latin typeface="Aptos"/>
              </a:rPr>
              <a:t>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011680"/>
            <a:ext cx="309981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62D30"/>
                </a:solidFill>
                <a:latin typeface="Aptos"/>
              </a:rPr>
              <a:t>Weekly/monthly packs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325880"/>
            <a:ext cx="3246120" cy="1417320"/>
          </a:xfrm>
          <a:prstGeom prst="roundRect">
            <a:avLst/>
          </a:prstGeom>
          <a:solidFill>
            <a:srgbClr val="E2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79" y="1435607"/>
            <a:ext cx="3246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192A34"/>
                </a:solidFill>
                <a:latin typeface="Aptos"/>
              </a:rPr>
              <a:t>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2011680"/>
            <a:ext cx="309981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62D30"/>
                </a:solidFill>
                <a:latin typeface="Aptos"/>
              </a:rPr>
              <a:t>Corporate / group 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4612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2A34"/>
                </a:solidFill>
                <a:latin typeface="Aptos"/>
              </a:rPr>
              <a:t>Revenue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657600"/>
            <a:ext cx="106984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62D30"/>
                </a:solidFill>
                <a:latin typeface="Aptos"/>
              </a:defRPr>
            </a:pPr>
            <a:r>
              <a:t>Primary revenue: customers purchase individual meals directly through the FitBite digital storefront.</a:t>
            </a:r>
          </a:p>
          <a:p>
            <a:pPr>
              <a:spcAft>
                <a:spcPts val="600"/>
              </a:spcAft>
              <a:defRPr sz="1500">
                <a:solidFill>
                  <a:srgbClr val="262D30"/>
                </a:solidFill>
                <a:latin typeface="Aptos"/>
              </a:defRPr>
            </a:pPr>
            <a:r>
              <a:t>Recurring revenue: 5-meal and 20-meal packs increase order frequency and customer retention.</a:t>
            </a:r>
          </a:p>
          <a:p>
            <a:pPr>
              <a:spcAft>
                <a:spcPts val="600"/>
              </a:spcAft>
              <a:defRPr sz="1500">
                <a:solidFill>
                  <a:srgbClr val="262D30"/>
                </a:solidFill>
                <a:latin typeface="Aptos"/>
              </a:defRPr>
            </a:pPr>
            <a:r>
              <a:t>Secondary revenue: office wellness orders, gym partnerships, and small corporate meal packages.</a:t>
            </a:r>
          </a:p>
          <a:p>
            <a:pPr>
              <a:spcAft>
                <a:spcPts val="600"/>
              </a:spcAft>
              <a:defRPr sz="1500">
                <a:solidFill>
                  <a:srgbClr val="262D30"/>
                </a:solidFill>
                <a:latin typeface="Aptos"/>
              </a:defRPr>
            </a:pPr>
            <a:r>
              <a:t>Future option: premium personalization service or nutrition coaching partnership, without making the core model dependent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076"/>
                </a:solidFill>
                <a:latin typeface="Aptos"/>
              </a:rPr>
              <a:t>Illustrative business proposal — assumptions are for classroom/project purposes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A34"/>
                </a:solidFill>
                <a:latin typeface="Aptos"/>
              </a:rPr>
              <a:t>8. Cost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67076"/>
                </a:solidFill>
                <a:latin typeface="Aptos"/>
              </a:rPr>
              <a:t>Major costs are separated into variable costs per meal and monthly fixed operating costs.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48463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Variable cost per meal</a:t>
                      </a:r>
                    </a:p>
                  </a:txBody>
                  <a:tcPr marL="73152" marR="73152">
                    <a:solidFill>
                      <a:srgbClr val="192A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Estimate</a:t>
                      </a:r>
                    </a:p>
                  </a:txBody>
                  <a:tcPr marL="73152" marR="73152">
                    <a:solidFill>
                      <a:srgbClr val="192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Ingredients / food materials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฿75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Packaging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฿12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Delivery allocation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฿18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Payment processing / transaction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฿5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Total variable cost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฿110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60720" y="1371600"/>
          <a:ext cx="5715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Monthly fixed cost</a:t>
                      </a:r>
                    </a:p>
                  </a:txBody>
                  <a:tcPr marL="73152" marR="73152">
                    <a:solidFill>
                      <a:srgbClr val="192A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Estimate</a:t>
                      </a:r>
                    </a:p>
                  </a:txBody>
                  <a:tcPr marL="73152" marR="73152">
                    <a:solidFill>
                      <a:srgbClr val="192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Kitchen / production space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฿30,000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Labor / operations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฿35,000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Digital advertising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฿20,000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Website / software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฿5,000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Admin / utilities / contingency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฿10,000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Total fixed cost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฿100,000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70916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D9169"/>
                </a:solidFill>
                <a:latin typeface="Aptos"/>
              </a:rPr>
              <a:t>Cost-control priorities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074920"/>
            <a:ext cx="10698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>
                <a:solidFill>
                  <a:srgbClr val="262D30"/>
                </a:solidFill>
                <a:latin typeface="Aptos"/>
              </a:defRPr>
            </a:pPr>
            <a:r>
              <a:t>Use standardized recipes and portion sizes to control ingredient waste.</a:t>
            </a:r>
          </a:p>
          <a:p>
            <a:pPr>
              <a:spcAft>
                <a:spcPts val="600"/>
              </a:spcAft>
              <a:defRPr sz="1350">
                <a:solidFill>
                  <a:srgbClr val="262D30"/>
                </a:solidFill>
                <a:latin typeface="Aptos"/>
              </a:defRPr>
            </a:pPr>
            <a:r>
              <a:t>Batch purchasing and menu engineering can lower food cost.</a:t>
            </a:r>
          </a:p>
          <a:p>
            <a:pPr>
              <a:spcAft>
                <a:spcPts val="600"/>
              </a:spcAft>
              <a:defRPr sz="1350">
                <a:solidFill>
                  <a:srgbClr val="262D30"/>
                </a:solidFill>
                <a:latin typeface="Aptos"/>
              </a:defRPr>
            </a:pPr>
            <a:r>
              <a:t>Schedule delivery windows to reduce failed deliveries and rider cost.</a:t>
            </a:r>
          </a:p>
          <a:p>
            <a:pPr>
              <a:spcAft>
                <a:spcPts val="600"/>
              </a:spcAft>
              <a:defRPr sz="1350">
                <a:solidFill>
                  <a:srgbClr val="262D30"/>
                </a:solidFill>
                <a:latin typeface="Aptos"/>
              </a:defRPr>
            </a:pPr>
            <a:r>
              <a:t>Track advertising cost per acquired customer and stop low-performing campaigns.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076"/>
                </a:solidFill>
                <a:latin typeface="Aptos"/>
              </a:rPr>
              <a:t>Illustrative business proposal — assumptions are for classroom/project purposes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A34"/>
                </a:solidFill>
                <a:latin typeface="Aptos"/>
              </a:rPr>
              <a:t>9. Monthly Profitability Projection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67076"/>
                </a:solidFill>
                <a:latin typeface="Aptos"/>
              </a:rPr>
              <a:t>Illustrative base case: 1,500 meals sold per month.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2468880" cy="1417320"/>
          </a:xfrm>
          <a:prstGeom prst="roundRect">
            <a:avLst/>
          </a:prstGeom>
          <a:solidFill>
            <a:srgbClr val="E2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35607"/>
            <a:ext cx="2468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2D9169"/>
                </a:solidFill>
                <a:latin typeface="Aptos"/>
              </a:rPr>
              <a:t>฿298,500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011680"/>
            <a:ext cx="232257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62D30"/>
                </a:solidFill>
                <a:latin typeface="Aptos"/>
              </a:rPr>
              <a:t>Monthly revenue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1325880"/>
            <a:ext cx="2468880" cy="1417320"/>
          </a:xfrm>
          <a:prstGeom prst="roundRect">
            <a:avLst/>
          </a:prstGeom>
          <a:solidFill>
            <a:srgbClr val="E2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01568" y="1435607"/>
            <a:ext cx="2468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2923E"/>
                </a:solidFill>
                <a:latin typeface="Aptos"/>
              </a:rPr>
              <a:t>฿165,000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011680"/>
            <a:ext cx="232257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62D30"/>
                </a:solidFill>
                <a:latin typeface="Aptos"/>
              </a:rPr>
              <a:t>Variable costs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17336" y="1325880"/>
            <a:ext cx="2468880" cy="1417320"/>
          </a:xfrm>
          <a:prstGeom prst="roundRect">
            <a:avLst/>
          </a:prstGeom>
          <a:solidFill>
            <a:srgbClr val="E2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17336" y="1435607"/>
            <a:ext cx="2468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192A34"/>
                </a:solidFill>
                <a:latin typeface="Aptos"/>
              </a:rPr>
              <a:t>฿100,000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0488" y="2011680"/>
            <a:ext cx="232257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62D30"/>
                </a:solidFill>
                <a:latin typeface="Aptos"/>
              </a:rPr>
              <a:t>Fixed costs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33104" y="1325880"/>
            <a:ext cx="2468880" cy="1417320"/>
          </a:xfrm>
          <a:prstGeom prst="roundRect">
            <a:avLst/>
          </a:prstGeom>
          <a:solidFill>
            <a:srgbClr val="E2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33104" y="1435607"/>
            <a:ext cx="2468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2D9169"/>
                </a:solidFill>
                <a:latin typeface="Aptos"/>
              </a:rPr>
              <a:t>฿33,500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06256" y="2011680"/>
            <a:ext cx="232257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62D30"/>
                </a:solidFill>
                <a:latin typeface="Aptos"/>
              </a:rPr>
              <a:t>Estimated profit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24612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34"/>
                </a:solidFill>
                <a:latin typeface="Aptos"/>
              </a:rPr>
              <a:t>Calculation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62D30"/>
                </a:solidFill>
                <a:latin typeface="Aptos"/>
              </a:rPr>
              <a:t>Expected Revenue − Total Costs = Expected Profit
฿298,500 − (฿165,000 + ฿100,000) = ฿33,500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006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D9169"/>
                </a:solidFill>
                <a:latin typeface="Aptos"/>
              </a:rPr>
              <a:t>Annualized base case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230368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62D30"/>
                </a:solidFill>
                <a:latin typeface="Aptos"/>
              </a:rPr>
              <a:t>If the base case is sustained: annual revenue ≈ ฿3,582,000; annual operating profit ≈ ฿402,000.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076"/>
                </a:solidFill>
                <a:latin typeface="Aptos"/>
              </a:rPr>
              <a:t>Illustrative business proposal — assumptions are for classroom/project purposes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A34"/>
                </a:solidFill>
                <a:latin typeface="Aptos"/>
              </a:rPr>
              <a:t>10. Break-Even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67076"/>
                </a:solidFill>
                <a:latin typeface="Aptos"/>
              </a:rPr>
              <a:t>How many meals must FitBite sell before it begins making a profit?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017520" cy="1600200"/>
          </a:xfrm>
          <a:prstGeom prst="roundRect">
            <a:avLst/>
          </a:prstGeom>
          <a:solidFill>
            <a:srgbClr val="E2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27048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2D9169"/>
                </a:solidFill>
                <a:latin typeface="Aptos"/>
              </a:rPr>
              <a:t>1,124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103120"/>
            <a:ext cx="287121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62D30"/>
                </a:solidFill>
                <a:latin typeface="Aptos"/>
              </a:rPr>
              <a:t>Break-even meals / month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417320"/>
            <a:ext cx="3017520" cy="1600200"/>
          </a:xfrm>
          <a:prstGeom prst="roundRect">
            <a:avLst/>
          </a:prstGeom>
          <a:solidFill>
            <a:srgbClr val="E2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60520" y="1527048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2923E"/>
                </a:solidFill>
                <a:latin typeface="Aptos"/>
              </a:rPr>
              <a:t>฿223,676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33672" y="2103120"/>
            <a:ext cx="287121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62D30"/>
                </a:solidFill>
                <a:latin typeface="Aptos"/>
              </a:rPr>
              <a:t>Break-even sales / month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1417320"/>
            <a:ext cx="3017520" cy="1600200"/>
          </a:xfrm>
          <a:prstGeom prst="roundRect">
            <a:avLst/>
          </a:prstGeom>
          <a:solidFill>
            <a:srgbClr val="E2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43800" y="1527048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192A34"/>
                </a:solidFill>
                <a:latin typeface="Aptos"/>
              </a:rPr>
              <a:t>฿89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2" y="2103120"/>
            <a:ext cx="287121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62D30"/>
                </a:solidFill>
                <a:latin typeface="Aptos"/>
              </a:rPr>
              <a:t>Contribution / meal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1188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34"/>
                </a:solidFill>
                <a:latin typeface="Aptos"/>
              </a:rPr>
              <a:t>Formula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77639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62D30"/>
                </a:solidFill>
                <a:latin typeface="Aptos"/>
              </a:rPr>
              <a:t>Break-Even Point = Fixed Costs ÷ (Selling Price − Variable Cost per Unit)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9028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62D30"/>
                </a:solidFill>
                <a:latin typeface="Aptos"/>
              </a:rPr>
              <a:t>= ฿100,000 ÷ (฿199 − ฿110) = 100,000 ÷ ฿89 ≈ 1,124 meals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32180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D9169"/>
                </a:solidFill>
                <a:latin typeface="Aptos"/>
              </a:rPr>
              <a:t>Feasibility meaning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5230368"/>
            <a:ext cx="8961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62D30"/>
                </a:solidFill>
                <a:latin typeface="Aptos"/>
              </a:rPr>
              <a:t>The business needs roughly 1,124 meals per month to cover fixed and variable costs. A 1,500-meal target provides a buffer above break-even.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076"/>
                </a:solidFill>
                <a:latin typeface="Aptos"/>
              </a:rPr>
              <a:t>Illustrative business proposal — assumptions are for classroom/project purposes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A34"/>
                </a:solidFill>
                <a:latin typeface="Aptos"/>
              </a:rPr>
              <a:t>11. Digital Marketing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67076"/>
                </a:solidFill>
                <a:latin typeface="Aptos"/>
              </a:rPr>
              <a:t>Prioritize channels where the target market discovers food, lifestyle ideas, and promotions.</a:t>
            </a:r>
          </a:p>
        </p:txBody>
      </p:sp>
      <p:pic>
        <p:nvPicPr>
          <p:cNvPr id="5" name="Picture 4" descr="social_marke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234440"/>
            <a:ext cx="4343400" cy="3154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1417320"/>
            <a:ext cx="6172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62D30"/>
                </a:solidFill>
                <a:latin typeface="Aptos"/>
              </a:defRPr>
            </a:pPr>
            <a:r>
              <a:t>Instagram: high-quality meal photos, Reels, customer stories, nutrition tips, and weekly menus.</a:t>
            </a:r>
          </a:p>
          <a:p>
            <a:pPr>
              <a:spcAft>
                <a:spcPts val="600"/>
              </a:spcAft>
              <a:defRPr sz="1400">
                <a:solidFill>
                  <a:srgbClr val="262D30"/>
                </a:solidFill>
                <a:latin typeface="Aptos"/>
              </a:defRPr>
            </a:pPr>
            <a:r>
              <a:t>TikTok: short videos showing meal preparation, price/value comparisons, challenges, and creator collaborations.</a:t>
            </a:r>
          </a:p>
          <a:p>
            <a:pPr>
              <a:spcAft>
                <a:spcPts val="600"/>
              </a:spcAft>
              <a:defRPr sz="1400">
                <a:solidFill>
                  <a:srgbClr val="262D30"/>
                </a:solidFill>
                <a:latin typeface="Aptos"/>
              </a:defRPr>
            </a:pPr>
            <a:r>
              <a:t>LINE: order reminders, loyalty rewards, customer service, personalized offers, and retention.</a:t>
            </a:r>
          </a:p>
          <a:p>
            <a:pPr>
              <a:spcAft>
                <a:spcPts val="600"/>
              </a:spcAft>
              <a:defRPr sz="1400">
                <a:solidFill>
                  <a:srgbClr val="262D30"/>
                </a:solidFill>
                <a:latin typeface="Aptos"/>
              </a:defRPr>
            </a:pPr>
            <a:r>
              <a:t>SEO / Google: capture high-intent searches such as healthy meal delivery in Bangkok.</a:t>
            </a:r>
          </a:p>
          <a:p>
            <a:pPr>
              <a:spcAft>
                <a:spcPts val="600"/>
              </a:spcAft>
              <a:defRPr sz="1400">
                <a:solidFill>
                  <a:srgbClr val="262D30"/>
                </a:solidFill>
                <a:latin typeface="Aptos"/>
              </a:defRPr>
            </a:pPr>
            <a:r>
              <a:t>Influencers: micro-influencers in fitness, university, lifestyle, and office-worker communities.</a:t>
            </a:r>
          </a:p>
          <a:p>
            <a:pPr>
              <a:spcAft>
                <a:spcPts val="600"/>
              </a:spcAft>
              <a:defRPr sz="1400">
                <a:solidFill>
                  <a:srgbClr val="262D30"/>
                </a:solidFill>
                <a:latin typeface="Aptos"/>
              </a:defRPr>
            </a:pPr>
            <a:r>
              <a:t>Paid advertising: retarget website visitors and test different offers using a controlled monthly budget.</a:t>
            </a:r>
          </a:p>
          <a:p>
            <a:pPr>
              <a:spcAft>
                <a:spcPts val="600"/>
              </a:spcAft>
              <a:defRPr sz="1400">
                <a:solidFill>
                  <a:srgbClr val="262D30"/>
                </a:solidFill>
                <a:latin typeface="Aptos"/>
              </a:defRPr>
            </a:pPr>
            <a:r>
              <a:t>Reviews and referrals: encourage verified customers to share feedback and give referral credits.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46634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A34"/>
                </a:solidFill>
                <a:latin typeface="Aptos"/>
              </a:rPr>
              <a:t>Priority 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5047488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D9169"/>
                </a:solidFill>
                <a:latin typeface="Aptos"/>
              </a:rPr>
              <a:t>Discover → Trust → Trial → Repeat → Refer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076"/>
                </a:solidFill>
                <a:latin typeface="Aptos"/>
              </a:rPr>
              <a:t>Image source: Slab.ng social media marketing illustration; used here as a visual example of digital marketing channels.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A34"/>
                </a:solidFill>
                <a:latin typeface="Aptos"/>
              </a:rPr>
              <a:t>12. Competitor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67076"/>
                </a:solidFill>
                <a:latin typeface="Aptos"/>
              </a:rPr>
              <a:t>The comparison uses publicly visible Bangkok healthy-food offerings; prices/features can change and should be rechecked before launch.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10698479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0485"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Factor</a:t>
                      </a:r>
                    </a:p>
                  </a:txBody>
                  <a:tcPr marL="73152" marR="73152">
                    <a:solidFill>
                      <a:srgbClr val="192A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FitBite</a:t>
                      </a:r>
                    </a:p>
                  </a:txBody>
                  <a:tcPr marL="73152" marR="73152">
                    <a:solidFill>
                      <a:srgbClr val="192A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Homie Clean Food</a:t>
                      </a:r>
                    </a:p>
                  </a:txBody>
                  <a:tcPr marL="73152" marR="73152">
                    <a:solidFill>
                      <a:srgbClr val="192A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Protein Chef BKK</a:t>
                      </a:r>
                    </a:p>
                  </a:txBody>
                  <a:tcPr marL="73152" marR="73152">
                    <a:solidFill>
                      <a:srgbClr val="192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Positioning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Affordable + personalized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Clean food + meal programs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Premium macro-tracked meals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Example price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฿199 target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From ~฿150/meal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From ~฿290/meal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Digital ordering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Website + LINE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Website + digital checkout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Website + scheduled delivery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Nutrition transparency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Calories + protein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Macro-balanced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Detailed macros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Flexibility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One-time + packs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Weekly programs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One-time + scheduled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0490"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Key advantage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Accessible personalization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Established clean-food positioning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Premium macro tracking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870448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2D9169"/>
                </a:solidFill>
                <a:latin typeface="Aptos"/>
              </a:rPr>
              <a:t>FitBite competitive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806440"/>
            <a:ext cx="8778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62D30"/>
                </a:solidFill>
                <a:latin typeface="Aptos"/>
              </a:rPr>
              <a:t>Win on affordability + flexible personalization + simple digital experience rather than trying to be the most premium option.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076"/>
                </a:solidFill>
                <a:latin typeface="Aptos"/>
              </a:rPr>
              <a:t>Competitor references: Homie Clean Food and Protein Chef BKK public websites, accessed August 2026.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A34"/>
                </a:solidFill>
                <a:latin typeface="Aptos"/>
              </a:rPr>
              <a:t>13. Feasibility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67076"/>
                </a:solidFill>
                <a:latin typeface="Aptos"/>
              </a:rPr>
              <a:t>A strong concept must be feasible across five dimensions.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73152" cy="1417320"/>
          </a:xfrm>
          <a:prstGeom prst="rect">
            <a:avLst/>
          </a:prstGeom>
          <a:solidFill>
            <a:srgbClr val="2D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444751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2A34"/>
                </a:solidFill>
                <a:latin typeface="Aptos"/>
              </a:rPr>
              <a:t>Market feasibility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47088"/>
            <a:ext cx="3044952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2D30"/>
                </a:solidFill>
                <a:latin typeface="Aptos"/>
              </a:rPr>
              <a:t>Demand is plausible because the target market values convenience, delivery, health, and mobile purchasing. Validate through a small pilot.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28016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280160"/>
            <a:ext cx="73152" cy="1417320"/>
          </a:xfrm>
          <a:prstGeom prst="rect">
            <a:avLst/>
          </a:prstGeom>
          <a:solidFill>
            <a:srgbClr val="19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444751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2A34"/>
                </a:solidFill>
                <a:latin typeface="Aptos"/>
              </a:rPr>
              <a:t>Technical feasibility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847088"/>
            <a:ext cx="3044952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2D30"/>
                </a:solidFill>
                <a:latin typeface="Aptos"/>
              </a:rPr>
              <a:t>A website, payment gateway, LINE account, analytics, and delivery integrations are accessible without building complex proprietary technology.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28016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01583" y="1280160"/>
            <a:ext cx="73152" cy="1417320"/>
          </a:xfrm>
          <a:prstGeom prst="rect">
            <a:avLst/>
          </a:prstGeom>
          <a:solidFill>
            <a:srgbClr val="F29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1444751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2A34"/>
                </a:solidFill>
                <a:latin typeface="Aptos"/>
              </a:rPr>
              <a:t>Operational feasibility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847088"/>
            <a:ext cx="3044952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2D30"/>
                </a:solidFill>
                <a:latin typeface="Aptos"/>
              </a:rPr>
              <a:t>A small central kitchen, standardized recipes, packaging, scheduled delivery windows, and quality checks can support a pilot launch.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06324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063240"/>
            <a:ext cx="73152" cy="1417320"/>
          </a:xfrm>
          <a:prstGeom prst="rect">
            <a:avLst/>
          </a:prstGeom>
          <a:solidFill>
            <a:srgbClr val="2D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7" y="3227832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2A34"/>
                </a:solidFill>
                <a:latin typeface="Aptos"/>
              </a:rPr>
              <a:t>Financial feasibility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3630168"/>
            <a:ext cx="4873752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2D30"/>
                </a:solidFill>
                <a:latin typeface="Aptos"/>
              </a:rPr>
              <a:t>At the base-case assumptions, 1,500 meals/month generates about ฿33,500 operating profit before tax/financing. Break-even is about 1,124 meals/month.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063240"/>
            <a:ext cx="53035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36208" y="3063240"/>
            <a:ext cx="73152" cy="1417320"/>
          </a:xfrm>
          <a:prstGeom prst="rect">
            <a:avLst/>
          </a:prstGeom>
          <a:solidFill>
            <a:srgbClr val="19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37376" y="3227832"/>
            <a:ext cx="49377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2A34"/>
                </a:solidFill>
                <a:latin typeface="Aptos"/>
              </a:rPr>
              <a:t>Legal / ethical feasibility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3630168"/>
            <a:ext cx="4919472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2D30"/>
                </a:solidFill>
                <a:latin typeface="Aptos"/>
              </a:rPr>
              <a:t>Comply with food-safety requirements, labeling, consumer protection, payment security, privacy/data protection, and truthful nutrition/allergen communication.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7492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D9169"/>
                </a:solidFill>
                <a:latin typeface="Aptos"/>
              </a:rPr>
              <a:t>Pilot-first approach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48640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62D30"/>
                </a:solidFill>
                <a:latin typeface="Aptos"/>
              </a:rPr>
              <a:t>Start with one Bangkok service zone, a limited menu, and 100–200 pilot customers. Use actual order, repeat-purchase, delivery, and food-cost data before scaling.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076"/>
                </a:solidFill>
                <a:latin typeface="Aptos"/>
              </a:rPr>
              <a:t>Illustrative business proposal — assumptions are for classroom/project purposes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A34"/>
                </a:solidFill>
                <a:latin typeface="Aptos"/>
              </a:rPr>
              <a:t>14. Risk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67076"/>
                </a:solidFill>
                <a:latin typeface="Aptos"/>
              </a:rPr>
              <a:t>Identify what could go wrong and how management would reduce the impact.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928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37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5394"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Risk</a:t>
                      </a:r>
                    </a:p>
                  </a:txBody>
                  <a:tcPr marL="73152" marR="73152">
                    <a:solidFill>
                      <a:srgbClr val="192A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Potential effect</a:t>
                      </a:r>
                    </a:p>
                  </a:txBody>
                  <a:tcPr marL="73152" marR="73152">
                    <a:solidFill>
                      <a:srgbClr val="192A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Mitigation</a:t>
                      </a:r>
                    </a:p>
                  </a:txBody>
                  <a:tcPr marL="73152" marR="73152">
                    <a:solidFill>
                      <a:srgbClr val="192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>
                        <a:defRPr sz="969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Low customer demand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Sales below break-even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Pilot launch, customer interviews, A/B testing, targeted promotions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>
                        <a:defRPr sz="969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Food-cost inflation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Lower contribution margin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Supplier alternatives, menu engineering, portion control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>
                        <a:defRPr sz="969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Delivery delays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Poor reviews / refunds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Delivery windows, backup riders, zone-based scheduling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>
                        <a:defRPr sz="969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Strong competition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Customer switching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Differentiate on personalization, value, retention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>
                        <a:defRPr sz="969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Food safety / quality issue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Reputation + legal exposure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Strict SOPs, hygiene controls, traceability, staff training</a:t>
                      </a:r>
                    </a:p>
                  </a:txBody>
                  <a:tcPr marL="73152" marR="73152">
                    <a:solidFill>
                      <a:srgbClr val="F8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5396">
                <a:tc>
                  <a:txBody>
                    <a:bodyPr/>
                    <a:lstStyle/>
                    <a:p>
                      <a:pPr>
                        <a:defRPr sz="969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Data/privacy incident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Loss of trust + compliance risk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 b="0">
                          <a:solidFill>
                            <a:srgbClr val="262D30"/>
                          </a:solidFill>
                          <a:latin typeface="Aptos"/>
                        </a:defRPr>
                      </a:pPr>
                      <a:r>
                        <a:t>Minimize data, secure access, clear privacy practices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076"/>
                </a:solidFill>
                <a:latin typeface="Aptos"/>
              </a:rPr>
              <a:t>Illustrative business proposal — assumptions are for classroom/project purposes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A34"/>
                </a:solidFill>
                <a:latin typeface="Aptos"/>
              </a:rPr>
              <a:t>15. 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67076"/>
                </a:solidFill>
                <a:latin typeface="Aptos"/>
              </a:rPr>
              <a:t>A phased launch reduces financial and operational risk.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D9169"/>
                </a:solidFill>
                <a:latin typeface="Aptos"/>
              </a:rP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29844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2A34"/>
                </a:solidFill>
                <a:latin typeface="Aptos"/>
              </a:rPr>
              <a:t>Validate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32588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2923E"/>
                </a:solidFill>
                <a:latin typeface="Aptos"/>
              </a:rPr>
              <a:t>Weeks 1–2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298448"/>
            <a:ext cx="6903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62D30"/>
                </a:solidFill>
                <a:latin typeface="Aptos"/>
              </a:rPr>
              <a:t>Customer interviews, landing page, menu test, competitor price 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984248"/>
            <a:ext cx="10561320" cy="18288"/>
          </a:xfrm>
          <a:prstGeom prst="rect">
            <a:avLst/>
          </a:prstGeom>
          <a:solidFill>
            <a:srgbClr val="EF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D9169"/>
                </a:solidFill>
                <a:latin typeface="Aptos"/>
              </a:rP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48716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2A34"/>
                </a:solidFill>
                <a:latin typeface="Aptos"/>
              </a:rPr>
              <a:t>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51460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2923E"/>
                </a:solidFill>
                <a:latin typeface="Aptos"/>
              </a:rPr>
              <a:t>Weeks 3–6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903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62D30"/>
                </a:solidFill>
                <a:latin typeface="Aptos"/>
              </a:rPr>
              <a:t>100–200 customers, limited delivery zone, collect feedback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172968"/>
            <a:ext cx="10561320" cy="18288"/>
          </a:xfrm>
          <a:prstGeom prst="rect">
            <a:avLst/>
          </a:prstGeom>
          <a:solidFill>
            <a:srgbClr val="EF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7033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D9169"/>
                </a:solidFill>
                <a:latin typeface="Aptos"/>
              </a:rPr>
              <a:t>Phase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675887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2A34"/>
                </a:solidFill>
                <a:latin typeface="Aptos"/>
              </a:rPr>
              <a:t>Optimize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7033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2923E"/>
                </a:solidFill>
                <a:latin typeface="Aptos"/>
              </a:rPr>
              <a:t>Months 2–3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675887"/>
            <a:ext cx="6903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62D30"/>
                </a:solidFill>
                <a:latin typeface="Aptos"/>
              </a:rPr>
              <a:t>Improve recipes, packaging, delivery, ads, retention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361688"/>
            <a:ext cx="10561320" cy="18288"/>
          </a:xfrm>
          <a:prstGeom prst="rect">
            <a:avLst/>
          </a:prstGeom>
          <a:solidFill>
            <a:srgbClr val="EF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89204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D9169"/>
                </a:solidFill>
                <a:latin typeface="Aptos"/>
              </a:rPr>
              <a:t>Phase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86460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2A34"/>
                </a:solidFill>
                <a:latin typeface="Aptos"/>
              </a:rPr>
              <a:t>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489204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2923E"/>
                </a:solidFill>
                <a:latin typeface="Aptos"/>
              </a:rPr>
              <a:t>Months 4–12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864608"/>
            <a:ext cx="6903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62D30"/>
                </a:solidFill>
                <a:latin typeface="Aptos"/>
              </a:rPr>
              <a:t>Expand zones, partnerships, corporate packs, automation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550408"/>
            <a:ext cx="10561320" cy="18288"/>
          </a:xfrm>
          <a:prstGeom prst="rect">
            <a:avLst/>
          </a:prstGeom>
          <a:solidFill>
            <a:srgbClr val="EF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56235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2A34"/>
                </a:solidFill>
                <a:latin typeface="Aptos"/>
              </a:rPr>
              <a:t>Core launch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5559552"/>
            <a:ext cx="9052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62D30"/>
                </a:solidFill>
                <a:latin typeface="Aptos"/>
              </a:rPr>
              <a:t>Orders/month • contribution margin • customer acquisition cost • repeat purchase rate • average order value • on-time delivery • rating/refund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076"/>
                </a:solidFill>
                <a:latin typeface="Aptos"/>
              </a:rPr>
              <a:t>Illustrative business proposal — assumptions are for classroom/project purposes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A34"/>
                </a:solidFill>
                <a:latin typeface="Aptos"/>
              </a:rPr>
              <a:t>16. Final Business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67076"/>
                </a:solidFill>
                <a:latin typeface="Aptos"/>
              </a:rPr>
              <a:t>Should FitBite be launched?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D9169"/>
                </a:solidFill>
                <a:latin typeface="Aptos"/>
              </a:rPr>
              <a:t>YES — but launch as a controlled pilot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148840"/>
            <a:ext cx="105156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62D30"/>
                </a:solidFill>
                <a:latin typeface="Aptos"/>
              </a:defRPr>
            </a:pPr>
            <a:r>
              <a:t>The target customer has a clear problem: healthy eating is difficult to maintain when time and convenience matter.</a:t>
            </a:r>
          </a:p>
          <a:p>
            <a:pPr>
              <a:spcAft>
                <a:spcPts val="600"/>
              </a:spcAft>
              <a:defRPr sz="1600">
                <a:solidFill>
                  <a:srgbClr val="262D30"/>
                </a:solidFill>
                <a:latin typeface="Aptos"/>
              </a:defRPr>
            </a:pPr>
            <a:r>
              <a:t>The digital model is technically realistic because customers can discover, order, pay, communicate, and review through existing platforms.</a:t>
            </a:r>
          </a:p>
          <a:p>
            <a:pPr>
              <a:spcAft>
                <a:spcPts val="600"/>
              </a:spcAft>
              <a:defRPr sz="1600">
                <a:solidFill>
                  <a:srgbClr val="262D30"/>
                </a:solidFill>
                <a:latin typeface="Aptos"/>
              </a:defRPr>
            </a:pPr>
            <a:r>
              <a:t>The base-case financial model is positive at 1,500 meals/month, with an estimated operating profit of about ฿33,500 per month.</a:t>
            </a:r>
          </a:p>
          <a:p>
            <a:pPr>
              <a:spcAft>
                <a:spcPts val="600"/>
              </a:spcAft>
              <a:defRPr sz="1600">
                <a:solidFill>
                  <a:srgbClr val="262D30"/>
                </a:solidFill>
                <a:latin typeface="Aptos"/>
              </a:defRPr>
            </a:pPr>
            <a:r>
              <a:t>The break-even level of approximately 1,124 meals/month gives a measurable sales target for management.</a:t>
            </a:r>
          </a:p>
          <a:p>
            <a:pPr>
              <a:spcAft>
                <a:spcPts val="600"/>
              </a:spcAft>
              <a:defRPr sz="1600">
                <a:solidFill>
                  <a:srgbClr val="262D30"/>
                </a:solidFill>
                <a:latin typeface="Aptos"/>
              </a:defRPr>
            </a:pPr>
            <a:r>
              <a:t>The biggest uncertainty is not technology—it is whether enough customers will buy repeatedly at the required price.</a:t>
            </a:r>
          </a:p>
          <a:p>
            <a:pPr>
              <a:spcAft>
                <a:spcPts val="600"/>
              </a:spcAft>
              <a:defRPr sz="1600">
                <a:solidFill>
                  <a:srgbClr val="262D30"/>
                </a:solidFill>
                <a:latin typeface="Aptos"/>
              </a:defRPr>
            </a:pPr>
            <a:r>
              <a:t>Therefore, FitBite should validate demand with a small pilot before investing heavily in kitchen capacity or large-scale advertising.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923E"/>
                </a:solidFill>
                <a:latin typeface="Aptos"/>
              </a:rPr>
              <a:t>Decision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5413248"/>
            <a:ext cx="9326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A34"/>
                </a:solidFill>
                <a:latin typeface="Aptos"/>
              </a:rPr>
              <a:t>Scale only when customer retention, unit economics, food quality, and delivery reliability are consistently proven.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076"/>
                </a:solidFill>
                <a:latin typeface="Aptos"/>
              </a:rPr>
              <a:t>Illustrative business proposal — assumptions are for classroom/project purposes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A34"/>
                </a:solidFill>
                <a:latin typeface="Aptos"/>
              </a:rPr>
              <a:t>17. Required Deliverables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67076"/>
                </a:solidFill>
                <a:latin typeface="Aptos"/>
              </a:rPr>
              <a:t>The completed proposal should address every required component.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353312"/>
            <a:ext cx="274320" cy="274320"/>
          </a:xfrm>
          <a:prstGeom prst="ellipse">
            <a:avLst/>
          </a:prstGeom>
          <a:solidFill>
            <a:srgbClr val="2D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4416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325880"/>
            <a:ext cx="4800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262D30"/>
                </a:solidFill>
                <a:latin typeface="Aptos"/>
              </a:rPr>
              <a:t>Business name, logo, and tagline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993391"/>
            <a:ext cx="274320" cy="274320"/>
          </a:xfrm>
          <a:prstGeom prst="ellipse">
            <a:avLst/>
          </a:prstGeom>
          <a:solidFill>
            <a:srgbClr val="2D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8424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965960"/>
            <a:ext cx="4800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262D30"/>
                </a:solidFill>
                <a:latin typeface="Aptos"/>
              </a:rPr>
              <a:t>Business concept and customer problem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633471"/>
            <a:ext cx="274320" cy="274320"/>
          </a:xfrm>
          <a:prstGeom prst="ellipse">
            <a:avLst/>
          </a:prstGeom>
          <a:solidFill>
            <a:srgbClr val="2D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624327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606039"/>
            <a:ext cx="4800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262D30"/>
                </a:solidFill>
                <a:latin typeface="Aptos"/>
              </a:rPr>
              <a:t>Target market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273551"/>
            <a:ext cx="274320" cy="274320"/>
          </a:xfrm>
          <a:prstGeom prst="ellipse">
            <a:avLst/>
          </a:prstGeom>
          <a:solidFill>
            <a:srgbClr val="2D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26440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246120"/>
            <a:ext cx="4800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262D30"/>
                </a:solidFill>
                <a:latin typeface="Aptos"/>
              </a:rPr>
              <a:t>E-business model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913632"/>
            <a:ext cx="274320" cy="274320"/>
          </a:xfrm>
          <a:prstGeom prst="ellipse">
            <a:avLst/>
          </a:prstGeom>
          <a:solidFill>
            <a:srgbClr val="2D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904487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886200"/>
            <a:ext cx="4800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262D30"/>
                </a:solidFill>
                <a:latin typeface="Aptos"/>
              </a:rPr>
              <a:t>Products/services and pricing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553712"/>
            <a:ext cx="274320" cy="274320"/>
          </a:xfrm>
          <a:prstGeom prst="ellipse">
            <a:avLst/>
          </a:prstGeom>
          <a:solidFill>
            <a:srgbClr val="2D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454456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526280"/>
            <a:ext cx="4800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262D30"/>
                </a:solidFill>
                <a:latin typeface="Aptos"/>
              </a:rPr>
              <a:t>Revenue model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5193792"/>
            <a:ext cx="274320" cy="274320"/>
          </a:xfrm>
          <a:prstGeom prst="ellipse">
            <a:avLst/>
          </a:prstGeom>
          <a:solidFill>
            <a:srgbClr val="2D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184647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166359"/>
            <a:ext cx="4800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262D30"/>
                </a:solidFill>
                <a:latin typeface="Aptos"/>
              </a:rPr>
              <a:t>Cost and profitability analysis</a:t>
            </a:r>
          </a:p>
        </p:txBody>
      </p:sp>
      <p:sp>
        <p:nvSpPr>
          <p:cNvPr id="26" name="Oval 25"/>
          <p:cNvSpPr/>
          <p:nvPr/>
        </p:nvSpPr>
        <p:spPr>
          <a:xfrm>
            <a:off x="6355079" y="1353312"/>
            <a:ext cx="274320" cy="274320"/>
          </a:xfrm>
          <a:prstGeom prst="ellipse">
            <a:avLst/>
          </a:prstGeom>
          <a:solidFill>
            <a:srgbClr val="2D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79" y="134416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59" y="1325880"/>
            <a:ext cx="4800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262D30"/>
                </a:solidFill>
                <a:latin typeface="Aptos"/>
              </a:rPr>
              <a:t>Break-even analysis</a:t>
            </a:r>
          </a:p>
        </p:txBody>
      </p:sp>
      <p:sp>
        <p:nvSpPr>
          <p:cNvPr id="29" name="Oval 28"/>
          <p:cNvSpPr/>
          <p:nvPr/>
        </p:nvSpPr>
        <p:spPr>
          <a:xfrm>
            <a:off x="6355079" y="1993391"/>
            <a:ext cx="274320" cy="274320"/>
          </a:xfrm>
          <a:prstGeom prst="ellipse">
            <a:avLst/>
          </a:prstGeom>
          <a:solidFill>
            <a:srgbClr val="2D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5079" y="198424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59" y="1965960"/>
            <a:ext cx="4800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262D30"/>
                </a:solidFill>
                <a:latin typeface="Aptos"/>
              </a:rPr>
              <a:t>Digital marketing strategy</a:t>
            </a:r>
          </a:p>
        </p:txBody>
      </p:sp>
      <p:sp>
        <p:nvSpPr>
          <p:cNvPr id="32" name="Oval 31"/>
          <p:cNvSpPr/>
          <p:nvPr/>
        </p:nvSpPr>
        <p:spPr>
          <a:xfrm>
            <a:off x="6355079" y="2633471"/>
            <a:ext cx="274320" cy="274320"/>
          </a:xfrm>
          <a:prstGeom prst="ellipse">
            <a:avLst/>
          </a:prstGeom>
          <a:solidFill>
            <a:srgbClr val="2D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55079" y="2624327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59" y="2606039"/>
            <a:ext cx="4800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262D30"/>
                </a:solidFill>
                <a:latin typeface="Aptos"/>
              </a:rPr>
              <a:t>Competitor analysis</a:t>
            </a:r>
          </a:p>
        </p:txBody>
      </p:sp>
      <p:sp>
        <p:nvSpPr>
          <p:cNvPr id="35" name="Oval 34"/>
          <p:cNvSpPr/>
          <p:nvPr/>
        </p:nvSpPr>
        <p:spPr>
          <a:xfrm>
            <a:off x="6355079" y="3273551"/>
            <a:ext cx="274320" cy="274320"/>
          </a:xfrm>
          <a:prstGeom prst="ellipse">
            <a:avLst/>
          </a:prstGeom>
          <a:solidFill>
            <a:srgbClr val="2D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55079" y="326440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59" y="3246120"/>
            <a:ext cx="4800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262D30"/>
                </a:solidFill>
                <a:latin typeface="Aptos"/>
              </a:rPr>
              <a:t>Feasibility analysis</a:t>
            </a:r>
          </a:p>
        </p:txBody>
      </p:sp>
      <p:sp>
        <p:nvSpPr>
          <p:cNvPr id="38" name="Oval 37"/>
          <p:cNvSpPr/>
          <p:nvPr/>
        </p:nvSpPr>
        <p:spPr>
          <a:xfrm>
            <a:off x="6355079" y="3913632"/>
            <a:ext cx="274320" cy="274320"/>
          </a:xfrm>
          <a:prstGeom prst="ellipse">
            <a:avLst/>
          </a:prstGeom>
          <a:solidFill>
            <a:srgbClr val="2D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55079" y="3904487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59" y="3886200"/>
            <a:ext cx="4800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262D30"/>
                </a:solidFill>
                <a:latin typeface="Aptos"/>
              </a:rPr>
              <a:t>Risk analysis</a:t>
            </a:r>
          </a:p>
        </p:txBody>
      </p:sp>
      <p:sp>
        <p:nvSpPr>
          <p:cNvPr id="41" name="Oval 40"/>
          <p:cNvSpPr/>
          <p:nvPr/>
        </p:nvSpPr>
        <p:spPr>
          <a:xfrm>
            <a:off x="6355079" y="4553712"/>
            <a:ext cx="274320" cy="274320"/>
          </a:xfrm>
          <a:prstGeom prst="ellipse">
            <a:avLst/>
          </a:prstGeom>
          <a:solidFill>
            <a:srgbClr val="2D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55079" y="454456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59" y="4526280"/>
            <a:ext cx="4800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262D30"/>
                </a:solidFill>
                <a:latin typeface="Aptos"/>
              </a:rPr>
              <a:t>Final recommendation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076"/>
                </a:solidFill>
                <a:latin typeface="Aptos"/>
              </a:rPr>
              <a:t>Illustrative business proposal — assumptions are for classroom/project purposes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A34"/>
                </a:solidFill>
                <a:latin typeface="Aptos"/>
              </a:rPr>
              <a:t>18. Presentation Questions to Prepare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67076"/>
                </a:solidFill>
                <a:latin typeface="Aptos"/>
              </a:rPr>
              <a:t>Be ready to defend the business logic, not only the idea.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923E"/>
                </a:solidFill>
                <a:latin typeface="Aptos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1307592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62D30"/>
                </a:solidFill>
                <a:latin typeface="Aptos"/>
              </a:rPr>
              <a:t>Who will buy your product or service?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923E"/>
                </a:solidFill>
                <a:latin typeface="Aptos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2176272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62D30"/>
                </a:solidFill>
                <a:latin typeface="Aptos"/>
              </a:rPr>
              <a:t>Why will they buy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39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923E"/>
                </a:solidFill>
                <a:latin typeface="Aptos"/>
              </a:rP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3044951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62D30"/>
                </a:solidFill>
                <a:latin typeface="Aptos"/>
              </a:rPr>
              <a:t>How will you reach them?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93192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923E"/>
                </a:solidFill>
                <a:latin typeface="Aptos"/>
              </a:rPr>
              <a:t>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3913632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62D30"/>
                </a:solidFill>
                <a:latin typeface="Aptos"/>
              </a:rPr>
              <a:t>How will the business make money?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0060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923E"/>
                </a:solidFill>
                <a:latin typeface="Aptos"/>
              </a:rPr>
              <a:t>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4782312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62D30"/>
                </a:solidFill>
                <a:latin typeface="Aptos"/>
              </a:rPr>
              <a:t>How much profit can you realistically make?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32588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923E"/>
                </a:solidFill>
                <a:latin typeface="Aptos"/>
              </a:rPr>
              <a:t>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1" y="1307592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62D30"/>
                </a:solidFill>
                <a:latin typeface="Aptos"/>
              </a:rPr>
              <a:t>What are the major costs?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19456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923E"/>
                </a:solidFill>
                <a:latin typeface="Aptos"/>
              </a:rPr>
              <a:t>7.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1" y="2176272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62D30"/>
                </a:solidFill>
                <a:latin typeface="Aptos"/>
              </a:rPr>
              <a:t>When will you break even?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063239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923E"/>
                </a:solidFill>
                <a:latin typeface="Aptos"/>
              </a:rPr>
              <a:t>8.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831" y="3044951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62D30"/>
                </a:solidFill>
                <a:latin typeface="Aptos"/>
              </a:rPr>
              <a:t>Why is the business feasible?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93192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923E"/>
                </a:solidFill>
                <a:latin typeface="Aptos"/>
              </a:rPr>
              <a:t>9.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1" y="3913632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62D30"/>
                </a:solidFill>
                <a:latin typeface="Aptos"/>
              </a:rPr>
              <a:t>What could cause the business to fail?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80060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923E"/>
                </a:solidFill>
                <a:latin typeface="Aptos"/>
              </a:rPr>
              <a:t>10.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6831" y="4782312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62D30"/>
                </a:solidFill>
                <a:latin typeface="Aptos"/>
              </a:rPr>
              <a:t>How will you prevent or manage those risks?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076"/>
                </a:solidFill>
                <a:latin typeface="Aptos"/>
              </a:rPr>
              <a:t>Illustrative business proposal — assumptions are for classroom/project purposes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FITBITE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4475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2F4EC"/>
                </a:solidFill>
                <a:latin typeface="Aptos"/>
              </a:rPr>
              <a:t>Healthy meals. Smarter days.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A good e-business is not simply creative.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0">
                <a:solidFill>
                  <a:srgbClr val="FFFFFF"/>
                </a:solidFill>
                <a:latin typeface="Aptos"/>
              </a:rPr>
              <a:t>It is wanted by customers, feasible to operate, financially viable, and sustainable over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7492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923E"/>
                </a:solidFill>
                <a:latin typeface="Aptos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2356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240740C1DAF546A81FB1D0FE4C52C5" ma:contentTypeVersion="3" ma:contentTypeDescription="Create a new document." ma:contentTypeScope="" ma:versionID="1c2ae4f2773ed82abd83248b989a796e">
  <xsd:schema xmlns:xsd="http://www.w3.org/2001/XMLSchema" xmlns:xs="http://www.w3.org/2001/XMLSchema" xmlns:p="http://schemas.microsoft.com/office/2006/metadata/properties" xmlns:ns2="4ff4ff53-e0a3-4f55-b6a1-4a13eb7341cd" targetNamespace="http://schemas.microsoft.com/office/2006/metadata/properties" ma:root="true" ma:fieldsID="556ca50d5174daabc856090a710a65fa" ns2:_="">
    <xsd:import namespace="4ff4ff53-e0a3-4f55-b6a1-4a13eb7341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f4ff53-e0a3-4f55-b6a1-4a13eb7341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87DBAB9-B348-416F-AE8A-778A07CE50AA}"/>
</file>

<file path=customXml/itemProps2.xml><?xml version="1.0" encoding="utf-8"?>
<ds:datastoreItem xmlns:ds="http://schemas.openxmlformats.org/officeDocument/2006/customXml" ds:itemID="{1BF43E19-34BF-4E5A-AFA1-6CCDA43FCADC}"/>
</file>

<file path=customXml/itemProps3.xml><?xml version="1.0" encoding="utf-8"?>
<ds:datastoreItem xmlns:ds="http://schemas.openxmlformats.org/officeDocument/2006/customXml" ds:itemID="{3FD86D29-E899-471B-972E-729CE1DE0CB0}"/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2398</Words>
  <Application>Microsoft Office PowerPoint</Application>
  <PresentationFormat>Widescreen</PresentationFormat>
  <Paragraphs>369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Win11</dc:creator>
  <cp:keywords/>
  <dc:description>generated using python-pptx</dc:description>
  <cp:lastModifiedBy>Felicito Angeles Jabutay</cp:lastModifiedBy>
  <cp:revision>1</cp:revision>
  <dcterms:created xsi:type="dcterms:W3CDTF">2013-01-27T09:14:16Z</dcterms:created>
  <dcterms:modified xsi:type="dcterms:W3CDTF">2026-08-14T02:22:49Z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0x01010067240740C1DAF546A81FB1D0FE4C52C5</vt:lpwstr>
  </property>
</Properties>
</file>