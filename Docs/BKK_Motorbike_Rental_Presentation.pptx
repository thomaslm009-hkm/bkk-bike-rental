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731520"/>
            <a:ext cx="5303520" cy="5303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731520"/>
            <a:ext cx="5303520" cy="5303520"/>
          </a:xfrm>
          <a:prstGeom prst="roundRect">
            <a:avLst/>
          </a:prstGeom>
          <a:solidFill>
            <a:srgbClr val="0A1128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822960"/>
            <a:ext cx="512064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0972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FB703"/>
                </a:solidFill>
              </a:defRPr>
            </a:pPr>
            <a:r>
              <a:t>🛵 DIGITAL BUSINESS PROJECT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BKK MOTORBIKE RENTAL</a:t>
            </a:r>
          </a:p>
          <a:p>
            <a:pPr>
              <a:spcAft>
                <a:spcPts val="2000"/>
              </a:spcAft>
              <a:defRPr sz="1600">
                <a:solidFill>
                  <a:srgbClr val="38BDF8"/>
                </a:solidFill>
              </a:defRPr>
            </a:pPr>
            <a:r>
              <a:t>Smart. Seamless. Keyless Mobility in Bangkok.</a:t>
            </a:r>
          </a:p>
          <a:p>
            <a:pPr>
              <a:spcAft>
                <a:spcPts val="2800"/>
              </a:spcAft>
              <a:defRPr sz="1100">
                <a:solidFill>
                  <a:srgbClr val="94A3B8"/>
                </a:solidFill>
              </a:defRPr>
            </a:pPr>
            <a:r>
              <a:t>A modern e-business proposal for an IoT-enabled 20-bike fleet rental service solving urban congestion, manual paperwork, and passport withholding in Bangkok.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Course: Digital Business &amp; Entrepreneurship</a:t>
            </a:r>
            <a:br/>
            <a:r>
              <a:t>Initial Fleet: 20 Units (10 Standard / 10 Premium)</a:t>
            </a:r>
            <a:br/>
            <a:r>
              <a:t>Target Market: Bangkok (Students, Expats, Tourists)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BKK Motorbike Rental — Digital Business Proposal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B703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1. Project Objective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Evaluating an e-business through value creation, profitability, and operational feasibility.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7121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1. Create Customer Value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Eliminate friction of visiting physical shops to rent motorbikes.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Provide 100% transparent pricing with no hidden charges or surprise insurance add-ons.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Zero passport hostage: digital KYC verification instead of withholding physical passports.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Instant keyless access via mobile app and IoT smart lock technology.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645920"/>
            <a:ext cx="3328416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8" y="1828800"/>
            <a:ext cx="287121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03"/>
                </a:solidFill>
              </a:defRPr>
            </a:pPr>
            <a:r>
              <a:t>2. Sustainable Profit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High contribution margins: 63% to 68% across all rental tiers.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Diversified revenue: daily, weekly, and high-retention monthly packages.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Controlled cost structure with ฿168,000/month fixed overheads.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Break-even achievable at 75% fleet utilization (15 active bikes).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645920"/>
            <a:ext cx="3328416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1896" y="1828800"/>
            <a:ext cx="2871216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3. Operational Feasibility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Market Feasibility: High demand near BTS/MRT, universities, and expat areas.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Technical Feasibility: Lightweight PWA, PromptPay QR gateway, 4G cellular IoT.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Operational Feasibility: Central hub in Sathorn with scheduled fleet maintenance.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Legal Compliance: Thailand PDPA data privacy and DLT licensing standards.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48640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03"/>
                </a:solidFill>
              </a:defRPr>
            </a:pPr>
            <a:r>
              <a:t>Key Principle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 successful digital business is not merely innovative—it must solve a genuine customer pain point, operate smoothly in the real world, and produce resilient, sustainable profit.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BKK Motorbike Rental — Digital Business Proposal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B703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2. Business Concept: BKK Motorbike Rental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 mobile-first, IoT-enabled motorbike rental platform for Greater Bangkok.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75504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18304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F4444"/>
                </a:solidFill>
              </a:defRPr>
            </a:pPr>
            <a:r>
              <a:t>The Traditional Problem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Manual &amp; Time-Consuming: Customers must travel physically to rental shops across traffic.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Opaque Pricing: Unclear rates, arbitrary insurance fees, and unpredictable deposit deductions.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Physical Passport Withholding: Shops routinely hold customer passports as collateral, creating severe security and travel anxiety.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Paper Contracts: Slow physical paperwork leads to delays, manual errors, and dispute friction.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No Fleet Visibility: Customers cannot check live bike availability or model specs before arriving.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645920"/>
            <a:ext cx="5175504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3096" y="1828800"/>
            <a:ext cx="4718304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The BKK Rental Solution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Instant Digital Platform: Search, compare, and reserve motorbikes online in under 2 minutes.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Transparent Tiered Pricing: Guaranteed transparent rates with clear damage waiver options.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Digital KYC Verification: Upload passport/Thai ID with automated encryption &amp; watermarking—no physical passport holding.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Keyless Smart IoT Access: Instant digital key in-app; unlock the bike with your phone.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Live Fleet Management: Real-time GPS tracking, automated maintenance scheduling, and instant deposit returns.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48640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03"/>
                </a:solidFill>
              </a:defRPr>
            </a:pPr>
            <a:r>
              <a:t>Core Digital Flow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Search Catalog Online  →  Digital KYC Upload  →  PromptPay QR Payment  →  IoT Smart Unlock  →  GPS Monitored Ride  →  Return &amp; Instant Refund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BKK Motorbike Rental — Digital Business Proposal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B703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3. Value Proposition &amp; Differentiation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Why customers choose BKK Motorbike Rental over traditional street rental shops.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75504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18304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03"/>
                </a:solidFill>
              </a:defRPr>
            </a:pPr>
            <a:r>
              <a:t>Affordable &amp; Flexible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Competitive daily (฿300/฿450), weekly (฿1,900/฿2,800), and monthly rates.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Tiered duration discounts save up to 40% on 30-day rentals.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Special student discounts and ฿500 referral credits.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645920"/>
            <a:ext cx="5175504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3096" y="1828800"/>
            <a:ext cx="4718304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Personalized Fleet Choice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Standard Fleet: Zippy Honda Click 160cc &amp; Scoopy for agile city commuting.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Premium Fleet: Luxury Honda Forza 350cc &amp; Vespa Sprint for comfort and touring.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Custom add-ons: full-face Bluetooth helmets, damage waivers, delivery.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75504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023360"/>
            <a:ext cx="4718304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Maximum Convenience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100% digital booking via mobile web app with instant confirmation.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Keyless IoT smart access—unlock your motorbike directly from your phone.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5 prime Bangkok pickup stations or flat ฿200 doorstep hotel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3840480"/>
            <a:ext cx="5175504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4023360"/>
            <a:ext cx="4718304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03"/>
                </a:solidFill>
              </a:defRPr>
            </a:pPr>
            <a:r>
              <a:t>Total Transparency &amp; Security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Clear rental terms with zero hidden fees or arbitrary damage charges.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Digital rental agreement and automated instant deposit refund.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Never hold physical passports; encrypted KYC compliant with PDPA.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989320"/>
            <a:ext cx="10698480" cy="50292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6172200"/>
            <a:ext cx="1024128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Competitive Advantage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Combining contactless IoT locks, PromptPay QR payments, and data-driven fleet telematics.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BKK Motorbike Rental — Digital Business Proposal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B703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4. Target Market &amp; Personas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Targeting digitally savvy urban residents, university students, expats, and tourists (Age 18–40).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100584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B703"/>
                </a:solidFill>
              </a:defRPr>
            </a:pPr>
            <a:r>
              <a:t>18 – 40 Years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Primary Target Age Group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100584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7830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20 Motorbikes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Initial Pilot Fleet Size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100584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5 Prime Hubs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Sathorn, Asok, Khaosan, Thonglor, Ari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100584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7830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B703"/>
                </a:solidFill>
              </a:defRPr>
            </a:pPr>
            <a:r>
              <a:t>฿300 – ฿450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Target Average Daily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80360"/>
            <a:ext cx="246888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63240"/>
            <a:ext cx="20116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University Students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Chula, ABAC, Bangkok Univ.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Need cheap, daily transit between condo and campus.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Prefer 7-day to 30-day Standard rentals (Click/Scoopy).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Highly price-sensitive; responsive to student promo codes.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880360"/>
            <a:ext cx="246888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3063240"/>
            <a:ext cx="20116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03"/>
                </a:solidFill>
              </a:defRPr>
            </a:pPr>
            <a:r>
              <a:t>Expats &amp; Digital Nomads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Tech, finance, and English teachers living in Bangkok.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Need reliable daily transport to bypass severe BTS rush hours.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Prefer 30-day Premium rentals (Forza 350 / XMAX).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Value transparent contracts and cashless digital payments.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880360"/>
            <a:ext cx="246888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063240"/>
            <a:ext cx="20116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Tourists &amp; Visitors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Short-term vacationers and backpackers (Khaosan/Sukhumvit).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Need quick 1-day to 7-day rentals for city sightseeing.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Refuse physical passport confiscation.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Value included safety helmets and GPS roadside assistance.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2880360"/>
            <a:ext cx="246888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3063240"/>
            <a:ext cx="20116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Urban Commuters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Bangkok professionals and gig workers.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Need temporary vehicle while personal car is serviced.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Value rapid doorstep delivery to hotel or condo.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Demand fuel-efficient, well-maintained automatic scooters.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BKK Motorbike Rental — Digital Business Proposal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B703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5. E-Business Model &amp; Infrastructure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 direct-to-consumer (B2C) digital rental model integrated with IoT smart telematics.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645920" cy="192024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783080"/>
            <a:ext cx="142646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FB703"/>
                </a:solidFill>
              </a:defRPr>
            </a:pPr>
            <a:r>
              <a:t>1. Discover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Google Search, Local SEO, TikTok &amp; IG Reels, travel forums.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42032" y="1645920"/>
            <a:ext cx="1645920" cy="192024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783080"/>
            <a:ext cx="142646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2. Book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Select model, rental dates, pickup hub &amp; protection add-ons.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645920"/>
            <a:ext cx="1645920" cy="192024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783080"/>
            <a:ext cx="142646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</a:defRPr>
            </a:pPr>
            <a:r>
              <a:t>3. Pay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Instant PromptPay QR code or Credit/Debit Card checkout.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645920"/>
            <a:ext cx="1645920" cy="192024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1783080"/>
            <a:ext cx="142646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FB703"/>
                </a:solidFill>
              </a:defRPr>
            </a:pPr>
            <a:r>
              <a:t>4. Verify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Digital KYC: upload passport/Thai ID &amp; driver's license.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1645920"/>
            <a:ext cx="1645920" cy="192024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3296" y="1783080"/>
            <a:ext cx="142646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5. Unlock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Receive Digital Key in app; tap to unlock via 4G IoT lock.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1645920"/>
            <a:ext cx="1645920" cy="192024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93808" y="1783080"/>
            <a:ext cx="142646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</a:defRPr>
            </a:pPr>
            <a:r>
              <a:t>6. Return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Return to station, upload 4-point condition photo, deposit released.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94760"/>
            <a:ext cx="3328416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77640"/>
            <a:ext cx="2871216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Customer Mobile App (PWA)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Interactive vehicle catalog with live real-time inventory.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Dynamic price quote engine with duration discounts.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Digital KYC dropzone with automated image watermarking.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Smart Key HUD controller with live trip speedometer.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8" y="3794760"/>
            <a:ext cx="3328416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3977640"/>
            <a:ext cx="2871216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03"/>
                </a:solidFill>
              </a:defRPr>
            </a:pPr>
            <a:r>
              <a:t>IoT Telematics Network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4G cellular GPS trackers on all 20 motorbikes.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Encrypted MQTT broker commands for remote immobilizer.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Geofencing boundary alerts for Greater Bangkok perimeter.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Automated battery voltage and mileage telemetry logs.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3794760"/>
            <a:ext cx="3328416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3977640"/>
            <a:ext cx="2871216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Admin Operations Hub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Live Leaflet GPS map tracking all active and parked bikes.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Financial analytics tracking ฿168,000 break-even target.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Automated maintenance triggers every 3,000 km.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Omnichannel customer support (LINE OA &amp; WhatsApp).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BKK Motorbike Rental — Digital Business Proposal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B703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6. Products &amp; Tiered Pricing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Balancing customer affordability, fleet utilization, and healthy contribution margins.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6217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143000"/>
                <a:gridCol w="1143000"/>
                <a:gridCol w="1188720"/>
                <a:gridCol w="1188720"/>
              </a:tblGrid>
              <a:tr h="47026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Product / Plan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Customer Price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Variable Cost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Contribution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Margin %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Standard – 1 Day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฿300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฿100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฿200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0B981"/>
                          </a:solidFill>
                        </a:defRPr>
                      </a:pPr>
                      <a:r>
                        <a:t>66.7%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Standard – 7 Days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฿1,900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฿600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฿1,300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0B981"/>
                          </a:solidFill>
                        </a:defRPr>
                      </a:pPr>
                      <a:r>
                        <a:t>68.4%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Standard – 30 Days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฿5,500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฿2,000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฿3,500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0B981"/>
                          </a:solidFill>
                        </a:defRPr>
                      </a:pPr>
                      <a:r>
                        <a:t>63.6%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Premium – 1 Day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฿450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฿150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฿300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0B981"/>
                          </a:solidFill>
                        </a:defRPr>
                      </a:pPr>
                      <a:r>
                        <a:t>66.7%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Premium – 7 Days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฿2,800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฿900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฿1,900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0B981"/>
                          </a:solidFill>
                        </a:defRPr>
                      </a:pPr>
                      <a:r>
                        <a:t>67.8%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Premium – 30 Days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฿9,500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฿3,500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฿6,000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0B981"/>
                          </a:solidFill>
                        </a:defRPr>
                      </a:pPr>
                      <a:r>
                        <a:t>63.1%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132320" y="1645920"/>
            <a:ext cx="42976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ick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783080"/>
            <a:ext cx="1645920" cy="1234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52560" y="169164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Standard Fleet (10 Units)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Honda Click 160 &amp; Scoopy-i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15–37L underseat storage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Deposit: ฿1k Thai / ฿2k Passport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Ideal for: Students &amp; commuters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3886200"/>
            <a:ext cx="429768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orza3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4023360"/>
            <a:ext cx="1645920" cy="1234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2560" y="393192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703"/>
                </a:solidFill>
              </a:defRPr>
            </a:pPr>
            <a:r>
              <a:t>Premium Fleet (10 Units)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Honda Forza 350 &amp; Vespa Sprint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HSTC Traction control &amp; Dual ABS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Deposit: ฿3k Thai / ฿5k Passport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• Ideal for: Expats &amp; highway touring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6217920" cy="100584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303520"/>
            <a:ext cx="57607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Pricing &amp; Promotion Strategy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Duration-based discounting protects unit contribution while incentivizing 30-day lock-in.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Optional add-ons: Zero-Deductible Damage Waiver (+฿80–฿150/d) and Doorstep Delivery (+฿200).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BKK Motorbike Rental — Digital Business Proposal  |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B703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7. Revenue Model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Diversified revenue streams combining recurring long-term packages with short-term rentals.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137160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737360"/>
            <a:ext cx="22494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703"/>
                </a:solidFill>
              </a:defRPr>
            </a:pPr>
            <a:r>
              <a:t>50%  Monthly Packages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฿5,500 – ฿9,500/mo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Steady recurring baseline cash flow from expats, digital nomads, and university students.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137160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84448" y="1737360"/>
            <a:ext cx="22494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35%  Weekly &amp; Daily Rentals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฿300 – ฿2,800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High-margin short-term tourist demand, weekend getaways, and interim commuters.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137160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1737360"/>
            <a:ext cx="22494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10%  Protection Add-ons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+฿80 – ฿150 / day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Zero-deductible damage waivers, Bluetooth intercom helmet upgrades.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137160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FB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70848" y="1737360"/>
            <a:ext cx="22494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8500"/>
                </a:solidFill>
              </a:defRPr>
            </a:pPr>
            <a:r>
              <a:t>5%  Delivery &amp; Services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฿200 Flat Fee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Doorstep hotel/condo delivery, airport pickup hub handover fees.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10698480" cy="2834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74720"/>
            <a:ext cx="1024128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03"/>
                </a:solidFill>
              </a:defRPr>
            </a:pPr>
            <a:r>
              <a:t>Strategic Revenue Logic &amp; Financial Resiliency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1. Predictable Anchor Cash Flow: By securing 50% of the 20-bike fleet on 30-day monthly contracts (approx. 10 bikes = ฿75,000/month), the business locks in 45% of its fixed cost coverage regardless of daily tourism fluctuations.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2. High Contribution Daily/Weekly Rentals: The remaining 10 bikes generate flexible daily and weekly rentals at ฿300–฿450/day. At an average 75% utilization, they contribute an additional ฿80,000–฿100,000 in monthly margin.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3. High Margin Ancillary Services: Optional Zero-Deductible Damage Waivers (฿80–฿150/day) carry over 75% gross margin after factoring actuarial repair incident reserves.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4. Deposit Float Management: Refundable security deposits (฿1,000 to ฿5,000 per vehicle) provide an interest-free operating reserve protecting against accidental damage, speeding citations, or vehicle abandonment.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BKK Motorbike Rental — Digital Business Proposal  |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B703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8. Cost Structure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Lean variable operating costs per rental day and transparent monthly fixed overheads.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3891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39319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Variable Costs (Per Rental Day)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Maintenance &amp; Lubricants: ฿35 / day</a:t>
            </a:r>
            <a:br/>
            <a:r>
              <a:t>   (Engine oil, filters, scheduled CVT belt replacements)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Vehicle Sanitization &amp; Cleaning: ฿15 / day</a:t>
            </a:r>
            <a:br/>
            <a:r>
              <a:t>   (Disinfected helmets, washed body panels)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Wear &amp; Tear Allowance: ฿25 / day</a:t>
            </a:r>
            <a:br/>
            <a:r>
              <a:t>   (Tire wear, brake pads, battery lifecycle amortization)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Commercial Insurance Allocation: ฿15 / day</a:t>
            </a:r>
            <a:br/>
            <a:r>
              <a:t>   (Per-rental liability &amp; compulsory Por Ror Bor pool)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Payment Processing &amp; Telematics: ฿10 / day</a:t>
            </a:r>
            <a:br/>
            <a:r>
              <a:t>   (PromptPay QR / card gateway fees &amp; IoT data packets)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—— Total Variable Cost (Standard): ฿100 / day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—— Total Variable Cost (Premium): ฿150 / day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Cost Control Priority: Standardized preventative maintenance every 3,000 km lowers long-term repair costs by 35%.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94960" y="1645920"/>
          <a:ext cx="60350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920240"/>
              </a:tblGrid>
              <a:tr h="407323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Fixed Cost Category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Monthly (THB)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Motorcycle Fleet Financing (20 bikes amortized)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฿30,000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Staff Salaries (Operations, Mechanic, Customer Support)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฿80,000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Office &amp; Storage Yard Rent (Sathorn Depot)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฿20,000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Commercial Fleet Insurance Policy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฿15,000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Marketing, Social Ads &amp; Influencers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฿5,000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Software / App Hosting / SaaS Cloud Services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฿3,000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4G GPS / IoT Telematics SIM Cards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฿3,000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Licensing, Permits &amp; DLT Compliance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฿3,000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Administrative Expenses &amp; Utilities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฿4,000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733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Emergency Contingency Reserve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฿5,000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BKK Motorbike Rental — Digital Business Proposal  |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B703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9. Monthly Profitability Projection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Base-case forecast: 80% fleet utilization across 20 bikes (480 active rental days/month).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118872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737360"/>
            <a:ext cx="2249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B703"/>
                </a:solidFill>
              </a:defRPr>
            </a:pPr>
            <a:r>
              <a:t>฿285,000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Monthly Revenue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Based on 80% blended utilization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118872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84448" y="1737360"/>
            <a:ext cx="2249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฿60,000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Total Variable Costs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฿125 avg VC × 480 rental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118872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FB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1737360"/>
            <a:ext cx="2249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8500"/>
                </a:solidFill>
              </a:defRPr>
            </a:pPr>
            <a:r>
              <a:t>฿168,000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Total Fixed Costs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All overheads, salaries &amp; rent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118872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70848" y="1737360"/>
            <a:ext cx="22494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฿57,000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Net Operating Profit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+20.0% Net Operating Margin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310896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103120"/>
                <a:gridCol w="2103120"/>
                <a:gridCol w="2103120"/>
              </a:tblGrid>
              <a:tr h="43891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B703"/>
                          </a:solidFill>
                        </a:defRPr>
                      </a:pPr>
                      <a:r>
                        <a:t>Fleet Utilization Level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B703"/>
                          </a:solidFill>
                        </a:defRPr>
                      </a:pPr>
                      <a:r>
                        <a:t>Monthly Revenue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B703"/>
                          </a:solidFill>
                        </a:defRPr>
                      </a:pPr>
                      <a:r>
                        <a:t>Variable Costs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B703"/>
                          </a:solidFill>
                        </a:defRPr>
                      </a:pPr>
                      <a:r>
                        <a:t>Fixed Costs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B703"/>
                          </a:solidFill>
                        </a:defRPr>
                      </a:pPr>
                      <a:r>
                        <a:t>Net Operating Profit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60% Low Season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FFFFFF"/>
                          </a:solidFill>
                        </a:defRPr>
                      </a:pPr>
                      <a:r>
                        <a:t>฿185,000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FFFFFF"/>
                          </a:solidFill>
                        </a:defRPr>
                      </a:pPr>
                      <a:r>
                        <a:t>฿45,000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FFFFFF"/>
                          </a:solidFill>
                        </a:defRPr>
                      </a:pPr>
                      <a:r>
                        <a:t>฿168,000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EF4444"/>
                          </a:solidFill>
                        </a:defRPr>
                      </a:pPr>
                      <a:r>
                        <a:t>-฿28,000 (Loss)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75% Break-Even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FFFFFF"/>
                          </a:solidFill>
                        </a:defRPr>
                      </a:pPr>
                      <a:r>
                        <a:t>฿255,000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FFFFFF"/>
                          </a:solidFill>
                        </a:defRPr>
                      </a:pPr>
                      <a:r>
                        <a:t>฿60,000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FFFFFF"/>
                          </a:solidFill>
                        </a:defRPr>
                      </a:pPr>
                      <a:r>
                        <a:t>฿168,000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+฿2,000 (Break-Even)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80% Base Case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FFFFFF"/>
                          </a:solidFill>
                        </a:defRPr>
                      </a:pPr>
                      <a:r>
                        <a:t>฿285,000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FFFFFF"/>
                          </a:solidFill>
                        </a:defRPr>
                      </a:pPr>
                      <a:r>
                        <a:t>฿60,000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FFFFFF"/>
                          </a:solidFill>
                        </a:defRPr>
                      </a:pPr>
                      <a:r>
                        <a:t>฿168,000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+฿57,000 (Healthy)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95% Peak Tourist Season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FFFFFF"/>
                          </a:solidFill>
                        </a:defRPr>
                      </a:pPr>
                      <a:r>
                        <a:t>฿380,000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FFFFFF"/>
                          </a:solidFill>
                        </a:defRPr>
                      </a:pPr>
                      <a:r>
                        <a:t>฿85,000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FFFFFF"/>
                          </a:solidFill>
                        </a:defRPr>
                      </a:pPr>
                      <a:r>
                        <a:t>฿168,000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+฿127,000 (High Profit)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31520" y="5486400"/>
            <a:ext cx="10698480" cy="77724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669280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03"/>
                </a:solidFill>
              </a:defRPr>
            </a:pPr>
            <a:r>
              <a:t>Annualized Outlook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At the base case (80% utilization): Projected Annual Gross Revenue = ฿3,420,000  |  Projected Annual Net Operating Profit = ฿684,000.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BKK Motorbike Rental — Digital Business Proposal  |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B703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10. Break-Even Analysis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Determining the sales volume and fleet utilization required to cover all monthly overheads.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146304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B703"/>
                </a:solidFill>
              </a:defRPr>
            </a:pPr>
            <a:r>
              <a:t>฿252,631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Break-Even Revenue / Month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Total sales required to cover ฿168,000 fixed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645920"/>
            <a:ext cx="3328416" cy="146304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4568" y="1783080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75% Utilization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Break-Even Fleet Utilization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15 of 20 motorbikes rented across the month.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645920"/>
            <a:ext cx="3328416" cy="146304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0456" y="1783080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66.5%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Average Contribution Margin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Blended ratio across Standard &amp; Premium packages.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175504" cy="2834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20440"/>
            <a:ext cx="4718304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03"/>
                </a:solidFill>
              </a:defRPr>
            </a:pPr>
            <a:r>
              <a:t>Mathematical Break-Even Model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Break-Even Revenue Formula:</a:t>
            </a:r>
            <a:br/>
            <a:r>
              <a:t>   BEP (Revenue) = Fixed Costs ÷ Contribution Margin Ratio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Calculation:</a:t>
            </a:r>
            <a:br/>
            <a:r>
              <a:t>   BEP = ฿168,000 ÷ 0.665 ≈ ฿252,631 per month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Break-Even Rental Days (Daily equivalent):</a:t>
            </a:r>
            <a:br/>
            <a:r>
              <a:t>   ฿168,000 ÷ ฿250 (avg contribution/day) ≈ 672 bike-days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Fleet Capacity Reality Check:</a:t>
            </a:r>
            <a:br/>
            <a:r>
              <a:t>   20 bikes × 30 days = 600 available days on pure daily rentals.</a:t>
            </a:r>
            <a:br/>
            <a:r>
              <a:t>   Therefore, long-term monthly &amp; weekly contracts are essential to bridge the gap and achieve break-even at 75% utilization.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3337560"/>
            <a:ext cx="5175504" cy="2834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3520440"/>
            <a:ext cx="4718304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Operational Management Takeaways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1. The 15-Bike Rule: Operations must always maintain a baseline of at least 15 active rental contracts to prevent operating losses.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2. Lock in Long-Term Baseline: Target 10 monthly expat/student contracts (50% fleet) to immediately secure ฿75,000 towards fixed costs.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3. Protect High Margins on Remainder: The remaining 10 bikes capture premium tourist daily and weekly rentals (67%+ margin).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4. Buffer Margin: The 80% target utilization (16 active bikes) provides a comfortable ฿57,000 monthly safety buffer above break-even.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BKK Motorbike Rental — Digital Business Proposal  | 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B703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11. Digital Marketing Strategy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Prioritizing digital discovery channels where Bangkok expats, students, and tourists look for mobility.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554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1. Google &amp; Local SEO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High-intent search capture.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'Motorbike rental Bangkok', 'Rent scooter Sathorn / Asok'.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Optimized Google Business Profile with 5-star verified reviews.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Rank #1 on Google Maps for BTS/MRT commuter keywords.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8648" y="1645920"/>
            <a:ext cx="201168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27248" y="1828800"/>
            <a:ext cx="1554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03"/>
                </a:solidFill>
              </a:defRPr>
            </a:pPr>
            <a:r>
              <a:t>2. TikTok &amp; IG Reels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Visual discovery &amp; lifestyle.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Short videos: 'How to rent a bike in Bangkok with your phone'.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Hidden Bangkok scooter riding routes and food tour guides.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Micro-influencer collaborations with local expat creators.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65776" y="1645920"/>
            <a:ext cx="201168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94376" y="1828800"/>
            <a:ext cx="1554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3. LINE Official Account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Retention &amp; quick support.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Automated extension reminders and instant rental renewal.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Live chat customer service &amp; emergency SOS hotline.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Exclusive subscriber discounts for recurring renters.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2904" y="1645920"/>
            <a:ext cx="201168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61504" y="1828800"/>
            <a:ext cx="1554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B8500"/>
                </a:solidFill>
              </a:defRPr>
            </a:pPr>
            <a:r>
              <a:t>4. Strategic Hubs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Physical-to-digital partnerships.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Coworking spaces in Thonglor (WeWork, The Hive).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Hostels in Khaosan &amp; Sukhumvit with QR booking stands.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Direct referral commissions for hostel receptionists.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00032" y="1645920"/>
            <a:ext cx="201168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28632" y="1828800"/>
            <a:ext cx="1554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03"/>
                </a:solidFill>
              </a:defRPr>
            </a:pPr>
            <a:r>
              <a:t>5. Referral Program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Viral organic growth.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'Refer a Friend': ฿500 rental discount for the new rider.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฿500 credit for the referring customer on their next month.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Lowers Customer Acquisition Cost (CAC) below ฿200.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10698480" cy="105156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303520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03"/>
                </a:solidFill>
              </a:defRPr>
            </a:pPr>
            <a:r>
              <a:t>Priority Acquisition Funnel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Discover (SEO / TikTok)  →  Trust (Reviews / Zero Passport Hold)  →  Trial (Instant PromptPay QR)  →  Repeat (Monthly Package)  →  Refer (฿500 Credit)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BKK Motorbike Rental — Digital Business Proposal  | 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B703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12. Competitor Analysis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Benchmarking BKK Motorbike Rental against key market competitors in Bangkok.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2194560"/>
                <a:gridCol w="2194560"/>
                <a:gridCol w="2103120"/>
              </a:tblGrid>
              <a:tr h="47026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Feature / Factor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BKK Motorbike Rental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MadBike.co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Fatboy's Motorbike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Street Shops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Positioning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Smart IoT + Transparent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Multi-station + Western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Established Expat Brand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Informal Local Shops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Daily Price (Standard)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฿300 / day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฿300 – ฿350 / day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฿300 – ฿350 / day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฿200 – ฿300 / day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Booking Experience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100% Instant Digital PWA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Static Form / WhatsApp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WhatsApp / In-person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Physical Walk-in Only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Payment Methods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PromptPay QR, Card, App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Cash, Card, Transfer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Cash, Card, Transfer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Cash Only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Passport Policy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Digital KYC (No Holding)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Passport Photocopy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Original Passport Hold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Hold Original Passport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FFFFFF"/>
                          </a:solidFill>
                        </a:defRPr>
                      </a:pPr>
                      <a:r>
                        <a:t>Key Access &amp; Security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B703"/>
                          </a:solidFill>
                        </a:defRPr>
                      </a:pPr>
                      <a:r>
                        <a:t>Smart Key IoT Unlock + GPS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Physical Key Only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Physical Key Only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94A3B8"/>
                          </a:solidFill>
                        </a:defRPr>
                      </a:pPr>
                      <a:r>
                        <a:t>Physical Key (No GPS)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166360"/>
            <a:ext cx="10698480" cy="100584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34924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The BKK Motorbike Rental Competitive Gap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Win by eliminating traditional rental friction: 100% digital instant checkout + keyless IoT unlock + zero physical passport withholding, while matching or beating market pricing.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BKK Motorbike Rental — Digital Business Proposal  | 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B703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13. Feasibility Analysis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Evaluating the proposal across the 5 standard e-business feasibility dimensions.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554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Market Feasibility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Plausible &amp; Growing Demand.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Bangkok traffic congestion creates heavy preference for scooters.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Growing digital nomad population and international tourism recovery.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Strong user preference for contactless mobile ordering.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8648" y="1645920"/>
            <a:ext cx="201168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27248" y="1828800"/>
            <a:ext cx="1554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03"/>
                </a:solidFill>
              </a:defRPr>
            </a:pPr>
            <a:r>
              <a:t>Technical Feasibility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Low Engineering Risk.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Progressive Web App (PWA) requires no App Store submission friction.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Cellular 4G IoT telematics and smart locks are off-the-shelf hardware.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Thai PromptPay QR payment gateways are mature and standardized.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65776" y="1645920"/>
            <a:ext cx="201168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94376" y="1828800"/>
            <a:ext cx="1554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Operational Feasibility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Controlled &amp; Repeatable.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Central Sathorn maintenance depot handles fleet repairs and storage.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Standardized 4-point return inspection SOP.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Doorstep delivery managed within 15km zone to avoid logistics drag.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2904" y="1645920"/>
            <a:ext cx="201168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61504" y="1828800"/>
            <a:ext cx="1554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03"/>
                </a:solidFill>
              </a:defRPr>
            </a:pPr>
            <a:r>
              <a:t>Financial Feasibility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Positive Unit Economics.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63%–68% contribution margin covers variable operations comfortably.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Break-even achievable at 75% fleet utilization (15 active bikes).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Base case yields ฿57,000 monthly net profit (20% net margin).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00032" y="1645920"/>
            <a:ext cx="201168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28632" y="1828800"/>
            <a:ext cx="1554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Legal &amp; Ethical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Full Regulatory Compliance.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Compliant with Thailand PDPA (encrypted KYC storage).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Mandatory DLT-compliant driver license / IDP validation.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Every vehicle backed by Compulsory Motor Insurance (Por Ror Bor).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10698480" cy="105156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303520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Strategic Pilot-First Execution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Start with 20 motorbikes in central Bangkok (Sathorn &amp; Sukhumvit). Validate real customer acquisition cost (CAC), maintenance wear, and repeat retention before scaling to 50+ bikes.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BKK Motorbike Rental — Digital Business Proposal  | 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B703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14. Risk Analysis &amp; Mitigation Matrix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Identifying potential business risks and management mitigation strategies.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5029200"/>
              </a:tblGrid>
              <a:tr h="62701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B703"/>
                          </a:solidFill>
                        </a:defRPr>
                      </a:pPr>
                      <a:r>
                        <a:t>Risk Identified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B703"/>
                          </a:solidFill>
                        </a:defRPr>
                      </a:pPr>
                      <a:r>
                        <a:t>Potential Business Impact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B703"/>
                          </a:solidFill>
                        </a:defRPr>
                      </a:pPr>
                      <a:r>
                        <a:t>Management Mitigation Strategy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EF4444"/>
                          </a:solidFill>
                        </a:defRPr>
                      </a:pPr>
                      <a:r>
                        <a:t>Motorbike Theft / Unauthorized Cross-Border Travel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Asset loss, police reporting overhead, fleet shrinkage.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4G cellular GPS trackers with real-time Bangkok geofencing. Automatic remote engine immobilization if exiting perimeter; police integration.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EF4444"/>
                          </a:solidFill>
                        </a:defRPr>
                      </a:pPr>
                      <a:r>
                        <a:t>Traffic Accidents &amp; Body Damage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Repair expense, customer conflict, bike out-of-service downtime.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Compulsory Por Ror Bor insurance pool; optional Zero-Deductible Damage Waiver (+฿80/d); mandatory pre/post 4-angle photo audit in-app.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EF4444"/>
                          </a:solidFill>
                        </a:defRPr>
                      </a:pPr>
                      <a:r>
                        <a:t>Low Off-Peak Tourist Demand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Fleet utilization drops below 75% break-even threshold.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Shift fleet focus to 30-day student and expat corporate commuter packages; offer seasonal promotional discounts.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EF4444"/>
                          </a:solidFill>
                        </a:defRPr>
                      </a:pPr>
                      <a:r>
                        <a:t>Unlicensed Tourist Drivers &amp; Police Fines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Customer impoundment, legal liability, reputational blow.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Mandatory digital KYC checking for valid Thai license or International Driving Permit (IDP 1949/1968); digital helmet checks.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EF4444"/>
                          </a:solidFill>
                        </a:defRPr>
                      </a:pPr>
                      <a:r>
                        <a:t>IoT Lock / Cellular Telematics Failure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Customer locked out or unable to start active trip.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Dual-SIM fallback on telematics unit; manual physical master key backup in tamper-evident sealed compartment on each bike.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EF4444"/>
                          </a:solidFill>
                        </a:defRPr>
                      </a:pPr>
                      <a:r>
                        <a:t>Deposit Withholding Disputes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Negative reviews on Google Maps / Trustpilot.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100% transparent automated photo comparison at check-out vs return. Instant automated PromptPay deposit refund release within 1 hour.</a:t>
                      </a:r>
                    </a:p>
                  </a:txBody>
                  <a:tcPr>
                    <a:solidFill>
                      <a:srgbClr val="16204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BKK Motorbike Rental — Digital Business Proposal  | 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B703"/>
                </a:solidFill>
              </a:defRPr>
            </a:pPr>
            <a:r>
              <a:t>BKK MOTORBIKE RENTAL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Conclusion &amp; Recommendation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Executive decision and final business viability assessment.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2179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57607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03"/>
                </a:solidFill>
              </a:defRPr>
            </a:pPr>
            <a:r>
              <a:t>Should BKK Motorbike Rental Be Launched? YES.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1. Clear Customer Problem &amp; Market Fit: Bangkok commuters and tourists face extreme traffic yet endure opaque, untrustworthy, paper-heavy motorbike rental services. The demand for digital transparency is high.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2. Mature &amp; Accessible Technology: Lightweight mobile web app, PromptPay QR integration, and 4G IoT smart locks can be implemented without expensive custom hardware development.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3. Financially Sound Base Case: Operating at 80% fleet utilization yields an estimated net profit of ฿57,000/month (฿684,000 annualized) on a lean 20-bike fleet.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4. Measurable Break-Even Target: A distinct break-even target of 75% utilization (15 active bikes) gives management clear operational focus.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5. Decisive Advantage over Street Shops: Zero passport confiscation + instant keyless IoT unlock creates overwhelming consumer 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645920"/>
            <a:ext cx="4206240" cy="1645920"/>
          </a:xfrm>
          <a:prstGeom prst="roundRect">
            <a:avLst/>
          </a:prstGeom>
          <a:solidFill>
            <a:srgbClr val="1620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828800"/>
            <a:ext cx="37490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Executive Decision Rule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Launch a 3-month controlled pilot (20 bikes in Sathorn/Sukhumvit).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Scale fleet to 50+ bikes only when customer retention, unit maintenance costs, and 80%+ utilization are proven.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3474720"/>
            <a:ext cx="420624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esp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3611880"/>
            <a:ext cx="1828800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26880" y="356616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B703"/>
                </a:solidFill>
              </a:defRPr>
            </a:pPr>
            <a:r>
              <a:t>🛵 BKK RENTAL</a:t>
            </a:r>
          </a:p>
          <a:p>
            <a:pPr>
              <a:spcAft>
                <a:spcPts val="800"/>
              </a:spcAft>
              <a:defRPr sz="1000">
                <a:solidFill>
                  <a:srgbClr val="38BDF8"/>
                </a:solidFill>
              </a:defRPr>
            </a:pPr>
            <a:r>
              <a:t>Smart. Seamless. Keyless Mobility.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Thank You!</a:t>
            </a:r>
            <a:br/>
            <a:r>
              <a:t>Ready for questions &amp; discussion.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BKK Motorbike Rental — Digital Business Proposal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