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Monthly Packages (50%)</c:v>
                </c:pt>
                <c:pt idx="1">
                  <c:v>Daily/Weekly (35%)</c:v>
                </c:pt>
                <c:pt idx="2">
                  <c:v>Damage Waivers (10%)</c:v>
                </c:pt>
                <c:pt idx="3">
                  <c:v>Delivery Fees (5%)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(฿k)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60% Low Season</c:v>
                </c:pt>
                <c:pt idx="1">
                  <c:v>75% Break-Even</c:v>
                </c:pt>
                <c:pt idx="2">
                  <c:v>80% Base Case</c:v>
                </c:pt>
                <c:pt idx="3">
                  <c:v>95% Peak Season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</c:v>
                </c:pt>
                <c:pt idx="1">
                  <c:v>255</c:v>
                </c:pt>
                <c:pt idx="2">
                  <c:v>285</c:v>
                </c:pt>
                <c:pt idx="3">
                  <c:v>380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Costs (฿k)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60% Low Season</c:v>
                </c:pt>
                <c:pt idx="1">
                  <c:v>75% Break-Even</c:v>
                </c:pt>
                <c:pt idx="2">
                  <c:v>80% Base Case</c:v>
                </c:pt>
                <c:pt idx="3">
                  <c:v>95% Peak Season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213</c:v>
                </c:pt>
                <c:pt idx="1">
                  <c:v>228</c:v>
                </c:pt>
                <c:pt idx="2">
                  <c:v>228</c:v>
                </c:pt>
                <c:pt idx="3">
                  <c:v>253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Profit (฿k)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60% Low Season</c:v>
                </c:pt>
                <c:pt idx="1">
                  <c:v>75% Break-Even</c:v>
                </c:pt>
                <c:pt idx="2">
                  <c:v>80% Base Case</c:v>
                </c:pt>
                <c:pt idx="3">
                  <c:v>95% Peak Season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-28</c:v>
                </c:pt>
                <c:pt idx="1">
                  <c:v>2</c:v>
                </c:pt>
                <c:pt idx="2">
                  <c:v>57</c:v>
                </c:pt>
                <c:pt idx="3">
                  <c:v>127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22960"/>
            <a:ext cx="521208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72200" y="777240"/>
            <a:ext cx="5303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868680"/>
            <a:ext cx="512064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1887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284C7"/>
                </a:solidFill>
              </a:defRPr>
            </a:pPr>
            <a:r>
              <a:t>🛵  BKK MOTORBIKE RENTAL</a:t>
            </a:r>
          </a:p>
          <a:p>
            <a:pPr>
              <a:spcAft>
                <a:spcPts val="1200"/>
              </a:spcAft>
              <a:defRPr sz="3600" b="1">
                <a:solidFill>
                  <a:srgbClr val="0A1128"/>
                </a:solidFill>
              </a:defRPr>
            </a:pPr>
            <a:r>
              <a:t>Smart. Seamless.</a:t>
            </a:r>
            <a:br/>
            <a:r>
              <a:t>Keyless Mobility.</a:t>
            </a:r>
          </a:p>
          <a:p>
            <a:pPr>
              <a:spcAft>
                <a:spcPts val="2800"/>
              </a:spcAft>
              <a:defRPr sz="1200">
                <a:solidFill>
                  <a:srgbClr val="334155"/>
                </a:solidFill>
              </a:defRPr>
            </a:pPr>
            <a:r>
              <a:t>A mobile-first, IoT-enabled motorbike rental platform designed to eliminate traditional rental friction across Greater Bangkok.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Initial Fleet: 20 Bikes (10 Standard / 10 Premium)</a:t>
            </a:r>
            <a:br/>
            <a:r>
              <a:t>• Key Edge: Contactless IoT Unlock &amp; Zero Passport Hold</a:t>
            </a:r>
            <a:br/>
            <a:r>
              <a:t>• Target: Students, Expats, Tourists &amp; Commuters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1. Project Objective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Evaluating an e-business through value creation, profitability, and operational feasibility.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2926080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Create Customer Value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Solve shop dependency: 100% online booking in under 2 minutes.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Zero passport holding: digital KYC verifies identity safely.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Transparent pricing: no surprise insurance or hidden fees.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Smart keyless access: unlock motorbike directly via smartphone.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45920"/>
            <a:ext cx="3328416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7408" y="1645920"/>
            <a:ext cx="3328416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10512"/>
            <a:ext cx="2926080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Generate Sustainable Profit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High contribution margins: 63% to 68% across all tiers.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Balanced revenue mix: monthly contracts + daily tourists.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Lean fixed overhead: ฿168,000/month across 20-bike fleet.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Break-even target: 75% fleet utilization (15 active bikes).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645920"/>
            <a:ext cx="3328416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83296" y="1645920"/>
            <a:ext cx="3328416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810512"/>
            <a:ext cx="2926080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Operational Feasibility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Market demand: high congestion near BTS/MRT &amp; university hubs.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Proven tech stack: lightweight PWA + 4G cellular IoT locks.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Central operations: Sathorn maintenance depot with regular SOPs.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Full legal compliance: Thailand PDPA &amp; DLT driver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698480" cy="73152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468112"/>
            <a:ext cx="10296144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A1128"/>
                </a:solidFill>
              </a:defRPr>
            </a:pPr>
            <a:r>
              <a:t>Core Guiding Principle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A great digital business solves real user pain points, operates reliably in the physical world, and generates resilient, repeatable profit.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2. Business Concept: BKK Motorbike Rental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 mobile-first, IoT-enabled motorbike rental platform for Greater Bangkok.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75504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4773168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The Traditional Rental Problem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Manual &amp; Inconvenient: Must visit physical rental shops in heavy traffic.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Opaque &amp; Hidden Fees: Arbitrary damage claims and unlisted charges.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Passport Anxiety: Shops routinely hold original passports as collateral.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Paper Contract Delays: Slow paperwork, manual errors, and deposit friction.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Zero Fleet Visibility: Cannot verify real-time availability or bike condition.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75504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54496" y="1645920"/>
            <a:ext cx="517550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810512"/>
            <a:ext cx="4773168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The BKK Motorbike Rental Solution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Instant Online Booking: Search, compare, and reserve in under 2 minutes.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Guaranteed Price Transparency: Clear rates with optional zero-deductible waiver.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Digital KYC: Automated encrypted passport verification—no physical holding.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Keyless Smart IoT: Unlock the vehicle instantly via mobile digital key.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Automated Operations: GPS telematics, scheduled servicing, instant deposit refund.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106984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468112"/>
            <a:ext cx="10296144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Core Experience Flow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Search Catalog Online  ➔  Digital KYC Upload  ➔  PromptPay QR Payment  ➔  Smart Key IoT Unlock  ➔  GPS Safe Ride  ➔  Instant Deposit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3. Value Proposition &amp; Differentiation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Why customers choose BKK Motorbike Rental over traditional street shops.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56616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566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3163824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Affordable &amp; Flexible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Competitive rates: ฿300/day Std, ฿450/day Premium.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Up to 40% duration discount on 30-day packages.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Special student offers &amp; ฿500 referral credits.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356616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645920"/>
            <a:ext cx="35661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810512"/>
            <a:ext cx="3163824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Personalized Choice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Standard: Agile Honda Click 160 &amp; Scoopy-i.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Premium: Luxury Honda Forza 350 &amp; Vespa Sprint.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Custom add-ons: Full-face helmets, damage waivers.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56616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096512"/>
            <a:ext cx="3163824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Frictionless Convenience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Instant booking via PWA mobile web app.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Keyless Smart IoT unlock with haptic feedback.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5 Bangkok hubs or flat ฿200 doorstep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931920"/>
            <a:ext cx="356616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3931920"/>
            <a:ext cx="356616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4096512"/>
            <a:ext cx="3163824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A580C"/>
                </a:solidFill>
              </a:defRPr>
            </a:pPr>
            <a:r>
              <a:t>Total Transparency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Zero hidden fees; clear digital rental agreements.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No passport holding: encrypted digital KYC.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Automated prompt deposit refund upon return.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474720" cy="4343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orza3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920240"/>
            <a:ext cx="3108960" cy="2331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03920" y="4389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A1128"/>
                </a:solidFill>
              </a:defRPr>
            </a:pPr>
            <a:r>
              <a:t>Key Competitive Edge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 smart digital rental experience combining keyless IoT access, PromptPay payments, and GPS fleet telematics.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4. Target Market &amp; Personas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Targeting digitally active urban residents, students, expats, and travelers (Age 18–40).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</a:defRPr>
            </a:pPr>
            <a:r>
              <a:t>18 – 40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Target Age Group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55648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20 Units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Initial Pilot Fleet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55648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5 Stations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Sathorn, Asok, Khaosan, Thonglor, 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4688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755648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</a:defRPr>
            </a:pPr>
            <a:r>
              <a:t>฿300 – ฿450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Target Daily Price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246888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044952"/>
            <a:ext cx="2066544" cy="2999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University Students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Campuses: Chula, ABAC, Bangkok Univ.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Need cheap daily transit to bypass traffic.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Prefer 7 to 30-day Standard rentals (Click/Scoopy).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Highly responsive to student discount codes.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880360"/>
            <a:ext cx="246888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288036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8" y="3044952"/>
            <a:ext cx="2066544" cy="2999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Expats &amp; Nomads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Professionals living in Sukhumvit / Sathorn.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Need reliable daily transport to bypass BTS rush.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Prefer 30-day Premium rentals (Forza 350).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Value cashless checkout &amp; transparent terms.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80360"/>
            <a:ext cx="246888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88036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044952"/>
            <a:ext cx="2066544" cy="2999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Tourists &amp; Visitors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Vacationers staying near Khaosan &amp; Asok.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Need 1-day to 7-day rentals for city exploration.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Refuse passport withholding.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Value included safety helmets &amp; GPS assistance.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880360"/>
            <a:ext cx="246888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2880360"/>
            <a:ext cx="24688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3044952"/>
            <a:ext cx="2066544" cy="2999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A580C"/>
                </a:solidFill>
              </a:defRPr>
            </a:pPr>
            <a:r>
              <a:t>Urban Commuters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Bangkok residents needing temporary wheels.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Vehicle in shop or short-term work assignment.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Value rapid doorstep hotel/condo delivery.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Prefer modern, reliable automatic scooters.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5. E-Business Model &amp; Flow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 direct-to-consumer (B2C) digital rental model integrated with IoT telematics.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6459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64592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1243584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1. Discover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Google SEO, TikTok &amp; IG Reels, travel forums.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645920"/>
            <a:ext cx="16459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1645920"/>
            <a:ext cx="16459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10512"/>
            <a:ext cx="1243584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2. Book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Select model, rental dates, pickup hub &amp; add-ons.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45920"/>
            <a:ext cx="16459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645920"/>
            <a:ext cx="1645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10512"/>
            <a:ext cx="1243584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3. Pay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Instant PromptPay QR or Credit/Debit Card.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45920"/>
            <a:ext cx="16459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645920"/>
            <a:ext cx="164592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810512"/>
            <a:ext cx="1243584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4. Verify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Digital KYC: upload passport &amp; driver license.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645920"/>
            <a:ext cx="16459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8" y="1645920"/>
            <a:ext cx="16459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810512"/>
            <a:ext cx="1243584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5. Unlock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Digital Key in app; tap to unlock via 4G IoT lock.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645920"/>
            <a:ext cx="16459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84080" y="1645920"/>
            <a:ext cx="1645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85248" y="1810512"/>
            <a:ext cx="1243584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6. Return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4-angle photo check; automated deposit refund.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3328416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3328416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822192"/>
            <a:ext cx="2926080" cy="2176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Customer Mobile App (PWA)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Interactive catalog with real-time fleet availability.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Dynamic quotation engine with tiered duration discounts.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Digital KYC scanner with automated watermarking.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Smart Key HUD controller with live trip speedometer.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657600"/>
            <a:ext cx="3328416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8" y="3657600"/>
            <a:ext cx="3328416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3822192"/>
            <a:ext cx="2926080" cy="2176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IoT Telematics Network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4G cellular GPS telematics trackers on all 20 bikes.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Encrypted MQTT broker for remote immobilizer commands.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Bangkok perimeter geofencing with anti-theft alarms.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Automated battery voltage and usage diagnostic alerts.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3657600"/>
            <a:ext cx="3328416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3657600"/>
            <a:ext cx="3328416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3822192"/>
            <a:ext cx="2926080" cy="2176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Admin Operations Hub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Live Leaflet GPS map tracking all 20 fleet units.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Financial analytics tracking ฿168,000 break-even target.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Automated preventative maintenance alerts every 3,000 km.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Integrated customer support via LINE Official Account.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6. Products &amp; Tiered Pricing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Balancing customer affordability, vehicle utilization, and healthy contribution margins.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43000"/>
                <a:gridCol w="1143000"/>
                <a:gridCol w="1188720"/>
                <a:gridCol w="118872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Product / Plan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Customer Price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Variable Cost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Margin %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128"/>
                          </a:solidFill>
                        </a:defRPr>
                      </a:pPr>
                      <a:r>
                        <a:t>Standard – 1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128"/>
                          </a:solidFill>
                        </a:defRPr>
                      </a:pPr>
                      <a:r>
                        <a:t>Standard – 7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฿1,900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฿1,300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68.4%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128"/>
                          </a:solidFill>
                        </a:defRPr>
                      </a:pPr>
                      <a:r>
                        <a:t>Standard – 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128"/>
                          </a:solidFill>
                        </a:defRPr>
                      </a:pPr>
                      <a:r>
                        <a:t>Premium – 1 Day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฿450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฿150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128"/>
                          </a:solidFill>
                        </a:defRPr>
                      </a:pPr>
                      <a:r>
                        <a:t>Premium – 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฿1,900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A1128"/>
                          </a:solidFill>
                        </a:defRPr>
                      </a:pPr>
                      <a:r>
                        <a:t>Premium – 30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฿9,500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฿3,500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฿6,000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63.1%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1645920"/>
            <a:ext cx="42976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ck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783080"/>
            <a:ext cx="1645920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1691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Standard Fleet (10 Units)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Honda Click 160 &amp; Scoopy-i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15–37L underseat storage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Deposit: ฿1k Thai / ฿2k Passport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Target: Students &amp; daily commuters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886200"/>
            <a:ext cx="42976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orza3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023360"/>
            <a:ext cx="164592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393192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Premium Fleet (10 Units)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Honda Forza 350 &amp; Vespa Sprint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Traction control &amp; Dual ABS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Deposit: ฿3k Thai / ฿5k Passport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• Target: Expats &amp; highway touring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62179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120640"/>
            <a:ext cx="6217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285232"/>
            <a:ext cx="581558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Pricing Strategy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Tiered duration pricing protects contribution margin while locking in long-term cash flow.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Add-ons: Zero-Deductible Damage Waiver (+฿80–฿150/d) &amp; Doorstep Delivery (+฿200).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7. Revenue Model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Diversified revenue streams combining recurring long-term packages with short-term rentals.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920240"/>
          <a:ext cx="43891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760720" y="1645920"/>
            <a:ext cx="56692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1645920"/>
            <a:ext cx="5669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8" y="1810512"/>
            <a:ext cx="5266944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1. Monthly Recurring Anchor (50%)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Secures ~10 bikes on 30-day contracts (฿5,500–฿9,500/mo).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Guarantees ~฿75,000/month baseline cash flow to cover 45% of fixed overheads.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3154680"/>
            <a:ext cx="56692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3154680"/>
            <a:ext cx="5669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3319272"/>
            <a:ext cx="5266944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2. High-Margin Short-Term Rentals (35%)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Captures tourist and commuter daily/weekly demand at ฿300–฿450/day.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Delivers peak contribution margin (67%+) during high season and weekends.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663440"/>
            <a:ext cx="56692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4663440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4828032"/>
            <a:ext cx="5266944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3. Add-ons &amp; Ancillary Services (15%)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Zero-Deductible Damage Waivers (+฿80–฿150/d) generate over 75% gross margin.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Doorstep delivery (฿200 flat) and Bluetooth helmet upgrades.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8. Cost Structure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Lean variable operating costs per rental day and controlled monthly fixed overheads.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2062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2062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3803904" cy="4187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Variable Costs (Per Rental Day)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Maintenance &amp; Lubricants: ฿35 / day</a:t>
            </a:r>
            <a:br/>
            <a:r>
              <a:t>   Engine oil, CVT belts, standardized servicing.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Vehicle Sanitization: ฿15 / day</a:t>
            </a:r>
            <a:br/>
            <a:r>
              <a:t>   Disinfected helmets, washed bodywork.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Wear &amp; Tear Amortization: ฿25 / day</a:t>
            </a:r>
            <a:br/>
            <a:r>
              <a:t>   Tires, brake pads, battery lifecycle.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Insurance Allocation: ฿15 / day</a:t>
            </a:r>
            <a:br/>
            <a:r>
              <a:t>   Compulsory Por Ror Bor liability pool.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Payment Gateway &amp; IoT SIM: ฿10 / day</a:t>
            </a:r>
            <a:br/>
            <a:r>
              <a:t>   PromptPay transaction fee &amp; 4G data packet.</a:t>
            </a:r>
          </a:p>
          <a:p>
            <a:pPr>
              <a:spcAft>
                <a:spcPts val="400"/>
              </a:spcAft>
              <a:defRPr sz="1000" b="1">
                <a:solidFill>
                  <a:srgbClr val="0A1128"/>
                </a:solidFill>
              </a:defRPr>
            </a:pPr>
            <a:r>
              <a:t>—— Total Standard Variable Cost: ฿100 / day</a:t>
            </a:r>
          </a:p>
          <a:p>
            <a:pPr>
              <a:spcAft>
                <a:spcPts val="400"/>
              </a:spcAft>
              <a:defRPr sz="1000" b="1">
                <a:solidFill>
                  <a:srgbClr val="0A1128"/>
                </a:solidFill>
              </a:defRPr>
            </a:pPr>
            <a:r>
              <a:t>—— Total Premium Variable Cost: ฿150 / day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Cost Control: Scheduled maintenance every 3,000 km reduces major breakdown expenses by 35%.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12080" y="1645920"/>
          <a:ext cx="6217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1828800"/>
              </a:tblGrid>
              <a:tr h="40732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Fixed Cost Category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Monthly (THB)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Motorcycle Fleet Financing (20 bikes amortized)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Staff Salaries (Operations, Mechanic, Customer Support)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฿80,000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Office &amp; Storage Yard Rent (Sathorn Central Depot)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Commercial Fleet Insurance Policy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฿15,000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Marketing, Social Ads &amp; Influencers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Software / App Hosting / SaaS Cloud 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฿3,000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4G GPS / IoT Telematics SIM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Licensing, Permits &amp; DLT Compliance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฿3,000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Administrative Expenses &amp; Utilities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Emergency Contingency Reserve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฿5,000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9. Monthly Profitability Projection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Base-case forecast: 80% fleet utilization across 20 bikes (480 active rental days/month).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</a:defRPr>
            </a:pPr>
            <a:r>
              <a:t>฿285,000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Monthly Revenue (80% Util.)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55648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EA580C"/>
                </a:solidFill>
              </a:defRPr>
            </a:pPr>
            <a:r>
              <a:t>฿60,000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Total Variable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468880" cy="54864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55648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A1128"/>
                </a:solidFill>
              </a:defRPr>
            </a:pPr>
            <a:r>
              <a:t>฿168,000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Total Fixed Costs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755648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+฿57,000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Net Operating Profit / 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71800"/>
            <a:ext cx="68580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914400" y="3154680"/>
          <a:ext cx="64922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863840" y="2971800"/>
            <a:ext cx="35661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97180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3136392"/>
            <a:ext cx="3163824" cy="290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A1128"/>
                </a:solidFill>
              </a:defRPr>
            </a:pPr>
            <a:r>
              <a:t>Financial Takeaways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Break-Even Threshold: Achieved at 75% fleet utilization (15 active bikes).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Base Case Profitability: 80% utilization produces ฿57,000 monthly profit (20% net margin).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Peak Upside: High tourist season (95% utilization) yields +฿127,000 net profit/month.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Annualized Run-Rate: Sustainable base case generates ฿684,000 in annual net operating profit.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10. Break-Even Analysis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Determining sales volume and fleet utilization required to cover all monthly overheads.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314553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</a:defRPr>
            </a:pPr>
            <a:r>
              <a:t>฿252,631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Break-Even Revenue /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45920"/>
            <a:ext cx="3328416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7408" y="1645920"/>
            <a:ext cx="332841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755648"/>
            <a:ext cx="314553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75% Utilization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15 of 20 Active Bikes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645920"/>
            <a:ext cx="3328416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83296" y="1645920"/>
            <a:ext cx="3328416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314553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66.5%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Average Contribution 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5175504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5175504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19272"/>
            <a:ext cx="4773168" cy="272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Break-Even Mathematical Model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Formula:</a:t>
            </a:r>
            <a:br/>
            <a:r>
              <a:t>   BEP (Revenue) = Fixed Costs ÷ Contribution Margin Ratio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Calculation:</a:t>
            </a:r>
            <a:br/>
            <a:r>
              <a:t>   BEP = ฿168,000 ÷ 0.665 ≈ ฿252,631 per month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Daily Rental Equivalent:</a:t>
            </a:r>
            <a:br/>
            <a:r>
              <a:t>   ฿168,000 ÷ ฿250 (avg daily margin) ≈ 672 bike-days/month.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Fleet Capacity Insight:</a:t>
            </a:r>
            <a:br/>
            <a:r>
              <a:t>   20 bikes × 30 days = 600 available days on daily rentals.</a:t>
            </a:r>
            <a:br/>
            <a:r>
              <a:t>   Therefore, long-term monthly &amp; weekly contracts are vital to reach break-even at 75% utilization.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54680"/>
            <a:ext cx="5175504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3154680"/>
            <a:ext cx="517550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319272"/>
            <a:ext cx="4773168" cy="272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Management Operational Rules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1. The 15-Bike Rule: Operations must maintain at least 15 active contracts to prevent operating losses.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2. Anchor Contracts: Keep 10 bikes on 30-day packages (50% fleet) to cover ฿75,000 in fixed costs.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3. Margin Protection: Reserve 10 bikes for daily/weekly tourists at full rate (67%+ margin).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4. Safety Cushion: The 80% target provides a ฿57,000 monthly safety buffer above break-even.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11. Digital Marketing Strategy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Prioritizing high-intent search and visual channels where Bangkok commuters look for mobility.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1. Google &amp; SEO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Capture high-intent searches.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'Motorbike rental Bangkok'.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'Rent scooter Sathorn / Asok'.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Top Google Maps local ranking with 5-star customer reviews.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8648" y="1645920"/>
            <a:ext cx="2011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2. TikTok &amp; Reels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Visual discovery &amp; lifestyle.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Quick videos: 'How to rent a bike with your phone in Bangkok'.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Bangkok scenic scooter routes.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Local expat influencer promos.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65776" y="1645920"/>
            <a:ext cx="2011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3. LINE Official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Retention &amp; fast support.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Automated extension reminders.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1-tap rental renewals.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Live chat support &amp; roadside SOS hotline.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4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32904" y="1645920"/>
            <a:ext cx="20116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A580C"/>
                </a:solidFill>
              </a:defRPr>
            </a:pPr>
            <a:r>
              <a:t>4. Strategic Hubs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Physical-to-digital partners.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Coworking spaces in Thonglor.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Hostels in Khaosan &amp; Sukhumvit with QR booking displays.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Receptionist referral incentives.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00032" y="1645920"/>
            <a:ext cx="20116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5. Referral Credits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Viral organic word-of-mouth.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฿500 rental voucher for friend.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฿500 credit for referrer.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Keeps Customer Acquisition Cost (CAC) under ฿200.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1069848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10698480" cy="73152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10296144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A1128"/>
                </a:solidFill>
              </a:defRPr>
            </a:pPr>
            <a:r>
              <a:t>Customer Acquisition Funnel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Discover (SEO / TikTok)  ➔  Trust (Verified Reviews &amp; Zero Passport Hold)  ➔  Trial (PromptPay QR)  ➔  Repeat (Monthly Contract)  ➔  Refer (฿500 Credit)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12. Competitor Analysis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Benchmarking BKK Motorbike Rental against key market competitors in Bangkok.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194560"/>
                <a:gridCol w="2194560"/>
                <a:gridCol w="2103120"/>
              </a:tblGrid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Feature / Factor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BKK Motorbike Rental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MadBike.co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Fatboy's Motorbike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Street Shops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Positioning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Smart IoT + Transparent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Multi-station + Western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Established Expat Brand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Informal Local Shops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Daily Price (Standard)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฿300 /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฿300 – ฿350 /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฿300 – ฿350 /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฿200 – ฿300 /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Booking Experience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100% Instant Digital PWA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Static Form / WhatsApp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WhatsApp / In-person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Physical Walk-in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Payment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PromptPay QR, Card,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Cash, Card,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Cash, Card,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Cash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Passport Policy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Digital KYC (No Holding)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Passport Photocopy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Original Passport Hold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Hold Original Passport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A1128"/>
                          </a:solidFill>
                        </a:defRPr>
                      </a:pPr>
                      <a:r>
                        <a:t>Key Access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</a:defRPr>
                      </a:pPr>
                      <a:r>
                        <a:t>Smart Key IoT Unlock + GPS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Physical Key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Physical Key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Physical Key (No GPS)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16636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5330952"/>
            <a:ext cx="1029614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Competitive Differentiation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We win by removing the biggest pain points in the market: instant digital checkout + contactless IoT smart key + zero physical passport holding, while matching competitive market rates.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13. Feasibility Analysis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Evaluating the proposal across the 5 standard e-business feasibility dimensions.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Market Feasibility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Growing Urban Demand.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Heavy Bangkok traffic drives consistent scooter reliance.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Expanding digital nomad population and tourist rebound.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Preference for cashless, app-based bookings.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8648" y="1645920"/>
            <a:ext cx="2011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Technical Feasibility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Low Implementation Risk.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Lightweight PWA: zero App Store installation friction.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Off-the-shelf 4G cellular IoT smart locks and GPS trackers.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Standardized Thai PromptPay QR payment gateways.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65776" y="1645920"/>
            <a:ext cx="2011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Operational Feasibility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Standardized Fleet SOPs.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Central Sathorn maintenance yard handles storage &amp; repairs.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Strict 4-point return inspection protocols.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15km controlled delivery zone avoids logistics bloat.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4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32904" y="1645920"/>
            <a:ext cx="20116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A580C"/>
                </a:solidFill>
              </a:defRPr>
            </a:pPr>
            <a:r>
              <a:t>Financial Feasibility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Solid Unit Economics.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63%–68% contribution margins absorb variable costs.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Break-even at 75% fleet utilization (15 active bikes).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Base case delivers ฿57,000 monthly net operating profit.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1645920"/>
            <a:ext cx="20116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00032" y="1645920"/>
            <a:ext cx="20116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810512"/>
            <a:ext cx="160934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Legal &amp; Ethical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Strict Compliance.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Thailand PDPA compliant encrypted KYC document storage.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Mandatory DLT &amp; International Driving Permit (IDP) validation.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Compulsory Por Ror Bor motor insurance included.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1069848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10698480" cy="73152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10296144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A1128"/>
                </a:solidFill>
              </a:defRPr>
            </a:pPr>
            <a:r>
              <a:t>Controlled Pilot Execution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Launch initially with 20 motorbikes in core central Bangkok hubs (Sathorn &amp; Sukhumvit). Validate real customer acquisition cost (CAC), maintenance wear, and retention before scaling.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14. Risk Analysis &amp; Mitigation Matrix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Identifying potential business risks and management mitigation strategies.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029200"/>
              </a:tblGrid>
              <a:tr h="62701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Risk Identified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Potential Impact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Management Mitigation Strategy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Motorbike Theft / Cross-Border Loss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Asset loss, police overhead, fleet shrinkage.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4G GPS trackers with real-time Bangkok geofencing. Automatic remote engine immobilization if exiting perimeter.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Traffic Accidents &amp; Body Damage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Repair expense, dispute friction, vehicle downtime.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Compulsory Por Ror Bor insurance pool; optional Zero-Deductible Damage Waiver (+฿80/d); mandatory pre/post photo inspection.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Low Off-Peak Tourist Demand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Utilization drops below 75% break-even mark.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Shift fleet focus to 30-day student and expat commuter packages; offer seasonal promotional discounts.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Unlicensed Tourist Drivers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Customer impoundment, legal liability.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Mandatory digital KYC checking for valid Thai license or International Driving Permit (IDP 1949/1968) before key release.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IoT Lock / Cellular Failure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Customer unable to unlock or start trip.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Dual-SIM fallback on telematics unit; manual physical master key backup in tamper-evident sealed compartment.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Deposit Withholding Disputes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Negative reviews on Google Maps.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100% transparent automated photo comparison at check-out vs return. Instant automated PromptPay deposit refund release.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0A1128"/>
                </a:solidFill>
              </a:defRPr>
            </a:pPr>
            <a:r>
              <a:t>Conclusion &amp; Recommendation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Executive decision and final business viability assessment.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581558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Final Recommendation: YES — Launch 20-Bike Pilot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1. Genuine Customer Need: Solves real urban friction (traffic gridlock, shop visits, paper contracts, passport withholding).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2. Accessible Technology: Built with lightweight PWA, PromptPay QR, and standard 4G IoT hardware without proprietary R&amp;D drag.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3. Healthy Unit Economics: 63%–68% contribution margins deliver ฿57,000 monthly net profit (฿684,000 annualized) at 80% utilization.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4. Distinct Break-Even Focus: The 75% utilization rule (15 active bikes) gives management clear operational guidance.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5. Market Trust Advantage: Zero passport withholding + instant keyless IoT unlock creates an unmatched competitive moat.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645920"/>
            <a:ext cx="42062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8" y="1810512"/>
            <a:ext cx="3803904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Executive Decision Rule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Launch a 3-month controlled pilot with 20 motorbikes in central Bangkok.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Scale fleet to 50+ units only when customer retention, unit maintenance costs, and 80%+ utilization are proven.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474720"/>
            <a:ext cx="420624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es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611880"/>
            <a:ext cx="182880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356616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284C7"/>
                </a:solidFill>
              </a:defRPr>
            </a:pPr>
            <a:r>
              <a:t>🛵 BKK RENTAL</a:t>
            </a:r>
          </a:p>
          <a:p>
            <a:pPr>
              <a:spcAft>
                <a:spcPts val="800"/>
              </a:spcAft>
              <a:defRPr sz="1000">
                <a:solidFill>
                  <a:srgbClr val="F59E0B"/>
                </a:solidFill>
              </a:defRPr>
            </a:pPr>
            <a:r>
              <a:t>Smart. Seamless. Keyless.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Thank You!</a:t>
            </a:r>
            <a:br/>
            <a:r>
              <a:t>Ready for questions &amp; defense.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BKK Motorbike Rental  |  Digital Business Project  |  Bangkok, Thailand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